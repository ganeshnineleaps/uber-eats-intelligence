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e68c438c-999f-4a0c-af91-6d02fba0055f}">
          <p14:sldIdLst>
            <p14:sldId id="256"/>
          </p14:sldIdLst>
        </p14:section>
        <p14:section name="Business Problem" id="{1eb52aa2-7119-fe4a-6e1e-66e62622e1d8}">
          <p14:sldIdLst>
            <p14:sldId id="257"/>
          </p14:sldIdLst>
        </p14:section>
        <p14:section name="Dataset" id="{b0889515-5d4c-2b5e-61cf-5149381ff944}">
          <p14:sldIdLst>
            <p14:sldId id="258"/>
          </p14:sldIdLst>
        </p14:section>
        <p14:section name="Data Preparation" id="{fa75060c-cec1-9cf1-6ba6-e0f6366e2e09}">
          <p14:sldIdLst>
            <p14:sldId id="259"/>
          </p14:sldIdLst>
        </p14:section>
        <p14:section name="Segmentation" id="{1161567f-5c02-60c9-55bb-e3515d93e1b5}">
          <p14:sldIdLst>
            <p14:sldId id="260"/>
            <p14:sldId id="261"/>
          </p14:sldIdLst>
        </p14:section>
        <p14:section name="NLP" id="{ae0e2524-0161-d54f-e29f-13fc80ff279e}">
          <p14:sldIdLst>
            <p14:sldId id="262"/>
            <p14:sldId id="263"/>
          </p14:sldIdLst>
        </p14:section>
        <p14:section name="Regression" id="{322e51b0-aeac-80b1-26b9-14673e8f4118}">
          <p14:sldIdLst>
            <p14:sldId id="264"/>
          </p14:sldIdLst>
        </p14:section>
        <p14:section name="Forecasting" id="{503e7e2c-8c2d-8a37-7c8c-14ef499ae411}">
          <p14:sldIdLst>
            <p14:sldId id="265"/>
          </p14:sldIdLst>
        </p14:section>
        <p14:section name="Business Impact" id="{0b9625b7-1fd5-b04e-f4a7-c47673431e88}">
          <p14:sldIdLst>
            <p14:sldId id="266"/>
          </p14:sldIdLst>
        </p14:section>
        <p14:section name="Limitations" id="{e1c07140-3422-fada-f2a3-db2af6397135}">
          <p14:sldIdLst>
            <p14:sldId id="267"/>
          </p14:sldIdLst>
        </p14:section>
        <p14:section name="Future Scope" id="{ced6ce75-4473-daed-68ea-08668a867b8e}">
          <p14:sldIdLst>
            <p14:sldId id="268"/>
          </p14:sldIdLst>
        </p14:section>
        <p14:section name="Close" id="{d7d90cd0-e580-6814-e1f4-bc7497563fa9}">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11111"/>
                </a:solidFill>
                <a:latin typeface="+mn-lt"/>
              </a:defRPr>
            </a:pPr>
            <a:r>
              <a:rPr sz="1400" b="0" i="0" u="none" strike="noStrike">
                <a:solidFill>
                  <a:srgbClr val="111111"/>
                </a:solidFill>
                <a:latin typeface="+mn-lt"/>
              </a:rPr>
              <a:t>Rows per dataset</a:t>
            </a:r>
          </a:p>
        </c:rich>
      </c:tx>
      <c:layout/>
      <c:overlay val="0"/>
    </c:title>
    <c:autoTitleDeleted val="0"/>
    <c:plotArea>
      <c:layout/>
      <c:barChart>
        <c:barDir val="bar"/>
        <c:grouping val="clustered"/>
        <c:varyColors val="0"/>
        <c:ser>
          <c:idx val="0"/>
          <c:order val="0"/>
          <c:tx>
            <c:strRef>
              <c:f>Sheet1!$B$1</c:f>
              <c:strCache>
                <c:ptCount val="1"/>
                <c:pt idx="0">
                  <c:v>Rows</c:v>
                </c:pt>
              </c:strCache>
            </c:strRef>
          </c:tx>
          <c:spPr>
            <a:solidFill>
              <a:srgbClr val="06C167"/>
            </a:solidFill>
            <a:effectLst/>
          </c:spPr>
          <c:invertIfNegative val="0"/>
          <c:dLbls>
            <c:numFmt formatCode="#,##0" sourceLinked="0"/>
            <c:txPr>
              <a:bodyPr/>
              <a:lstStyle/>
              <a:p>
                <a:pPr>
                  <a:defRPr b="0" i="0" strike="noStrike" sz="1200" u="none">
                    <a:solidFill>
                      <a:srgbClr val="111111"/>
                    </a:solidFill>
                    <a:latin typeface="+mn-lt"/>
                  </a:defRPr>
                </a:pPr>
              </a:p>
            </c:txPr>
            <c:showLegendKey val="0"/>
            <c:showVal val="1"/>
            <c:showCatName val="0"/>
            <c:showSerName val="0"/>
            <c:showPercent val="0"/>
            <c:showBubbleSize val="0"/>
            <c:showLeaderLines val="0"/>
          </c:dLbls>
          <c:cat>
            <c:multiLvlStrRef>
              <c:f>Sheet1!$A$2:$A$5</c:f>
              <c:multiLvlStrCache>
                <c:ptCount val="4"/>
                <c:lvl>
                  <c:pt idx="0">
                    <c:v>Customers</c:v>
                  </c:pt>
                  <c:pt idx="1">
                    <c:v>Restaurants</c:v>
                  </c:pt>
                  <c:pt idx="2">
                    <c:v>Sentiment</c:v>
                  </c:pt>
                  <c:pt idx="3">
                    <c:v>Delivery</c:v>
                  </c:pt>
                </c:lvl>
              </c:multiLvlStrCache>
            </c:multiLvlStrRef>
          </c:cat>
          <c:val>
            <c:numRef>
              <c:f>Sheet1!$B$2:$B$5</c:f>
              <c:numCache>
                <c:formatCode>General</c:formatCode>
                <c:ptCount val="4"/>
                <c:pt idx="0">
                  <c:v>8000</c:v>
                </c:pt>
                <c:pt idx="1">
                  <c:v>500</c:v>
                </c:pt>
                <c:pt idx="2">
                  <c:v>19082</c:v>
                </c:pt>
                <c:pt idx="3">
                  <c:v>9082</c:v>
                </c:pt>
              </c:numCache>
            </c:numRef>
          </c:val>
        </c:ser>
        <c:dLbls>
          <c:numFmt formatCode="#,##0" sourceLinked="0"/>
          <c:txPr>
            <a:bodyPr/>
            <a:lstStyle/>
            <a:p>
              <a:pPr>
                <a:defRPr b="0" i="0" strike="noStrike" sz="1200" u="none">
                  <a:solidFill>
                    <a:srgbClr val="111111"/>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11111"/>
                </a:solidFill>
                <a:latin typeface="+mn-lt"/>
              </a:defRPr>
            </a:pPr>
            <a:endParaRPr lang="en-US"/>
          </a:p>
        </c:txPr>
        <c:crossAx val="2094734552"/>
        <c:crosses val="autoZero"/>
        <c:auto val="1"/>
        <c:lblAlgn val="ctr"/>
        <c:noMultiLvlLbl val="1"/>
      </c:catAx>
      <c:valAx>
        <c:axId val="2094734552"/>
        <c:scaling>
          <c:orientation val="minMax"/>
          <c:max val="240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Sentiment</c:v>
                </c:pt>
              </c:strCache>
            </c:strRef>
          </c:tx>
          <c:spPr>
            <a:solidFill>
              <a:schemeClr val="accent1"/>
            </a:solidFill>
            <a:ln w="9525" cap="flat">
              <a:solidFill>
                <a:srgbClr val="F9F9F9"/>
              </a:solidFill>
              <a:prstDash val="solid"/>
              <a:round/>
            </a:ln>
            <a:effectLst/>
          </c:spPr>
          <c:dPt>
            <c:idx val="0"/>
            <c:bubble3D val="0"/>
            <c:spPr>
              <a:solidFill>
                <a:srgbClr val="06C167"/>
              </a:solidFill>
              <a:ln w="12700" cap="flat">
                <a:solidFill>
                  <a:srgbClr val="FFFFFF"/>
                </a:solidFill>
                <a:prstDash val="solid"/>
                <a:round/>
              </a:ln>
              <a:effectLst/>
            </c:spPr>
          </c:dPt>
          <c:dPt>
            <c:idx val="1"/>
            <c:bubble3D val="0"/>
            <c:spPr>
              <a:solidFill>
                <a:srgbClr val="6B7B72"/>
              </a:solidFill>
              <a:ln w="12700" cap="flat">
                <a:solidFill>
                  <a:srgbClr val="FFFFFF"/>
                </a:solidFill>
                <a:prstDash val="solid"/>
                <a:round/>
              </a:ln>
              <a:effectLst/>
            </c:spPr>
          </c:dPt>
          <c:dPt>
            <c:idx val="2"/>
            <c:bubble3D val="0"/>
            <c:spPr>
              <a:solidFill>
                <a:srgbClr val="E4572E"/>
              </a:solidFill>
              <a:ln w="12700" cap="flat">
                <a:solidFill>
                  <a:srgbClr val="FFFFFF"/>
                </a:solidFill>
                <a:prstDash val="solid"/>
                <a:round/>
              </a:ln>
              <a:effectLst/>
            </c:spPr>
          </c:dPt>
          <c:dLbls>
            <c:dLbl>
              <c:idx val="0"/>
              <c:numFmt formatCode="0%" sourceLinked="0"/>
              <c:spPr/>
              <c:txPr>
                <a:bodyPr/>
                <a:lstStyle/>
                <a:p>
                  <a:pPr>
                    <a:defRPr sz="1200" b="1" i="0" u="none" strike="noStrike">
                      <a:solidFill>
                        <a:srgbClr val="FFFFFF"/>
                      </a:solidFill>
                      <a:latin typeface="+mn-lt"/>
                    </a:defRPr>
                  </a:pPr>
                </a:p>
              </c:txPr>
              <c:showLegendKey val="0"/>
              <c:showVal val="0"/>
              <c:showCatName val="0"/>
              <c:showSerName val="0"/>
              <c:showPercent val="1"/>
              <c:showBubbleSize val="0"/>
            </c:dLbl>
            <c:dLbl>
              <c:idx val="1"/>
              <c:numFmt formatCode="0%" sourceLinked="0"/>
              <c:spPr/>
              <c:txPr>
                <a:bodyPr/>
                <a:lstStyle/>
                <a:p>
                  <a:pPr>
                    <a:defRPr sz="1200" b="1" i="0" u="none" strike="noStrike">
                      <a:solidFill>
                        <a:srgbClr val="FFFFFF"/>
                      </a:solidFill>
                      <a:latin typeface="+mn-lt"/>
                    </a:defRPr>
                  </a:pPr>
                </a:p>
              </c:txPr>
              <c:showLegendKey val="0"/>
              <c:showVal val="0"/>
              <c:showCatName val="0"/>
              <c:showSerName val="0"/>
              <c:showPercent val="1"/>
              <c:showBubbleSize val="0"/>
            </c:dLbl>
            <c:dLbl>
              <c:idx val="2"/>
              <c:numFmt formatCode="0%" sourceLinked="0"/>
              <c:spPr/>
              <c:txPr>
                <a:bodyPr/>
                <a:lstStyle/>
                <a:p>
                  <a:pPr>
                    <a:defRPr sz="1200" b="1" i="0" u="none" strike="noStrike">
                      <a:solidFill>
                        <a:srgbClr val="FFFFFF"/>
                      </a:solidFill>
                      <a:latin typeface="+mn-lt"/>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Positive</c:v>
                </c:pt>
                <c:pt idx="1">
                  <c:v>Neutral</c:v>
                </c:pt>
                <c:pt idx="2">
                  <c:v>Negative</c:v>
                </c:pt>
              </c:strCache>
            </c:strRef>
          </c:cat>
          <c:val>
            <c:numRef>
              <c:f>Sheet1!$B$2:$B$4</c:f>
              <c:numCache>
                <c:ptCount val="3"/>
                <c:pt idx="0">
                  <c:v>14132</c:v>
                </c:pt>
                <c:pt idx="1">
                  <c:v>3809</c:v>
                </c:pt>
                <c:pt idx="2">
                  <c:v>1141</c:v>
                </c:pt>
              </c:numCache>
            </c:numRef>
          </c:val>
        </c:ser>
        <c:firstSliceAng val="0"/>
        <c:holeSize val="55"/>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Introduce yourself and the goal: take the Uber Eats data from business problem to model outcome. Walk through the agenda: problem, data, preparation, segmentation, NLP, regression, forecasting, impact, limits,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Uber Eats sits on orders, reviews and delivery logs. The problem: turn this into decisions. Three questions drive the project: who are our customers, what are they telling us, and can we deliver reliably and plan ahead.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Four datasets. Customers is the widest (32 columns) and the only one with missing values (899). Sentiment is the largest by rows. Delivery has only four numeric columns and no IDs, so it cannot be joined to orders.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Be explicit about what was wrong. 899 missing cells in Customers; the merge left duplicated _x/_y columns for orders, spend and average order value; the delivery export has no IDs; and its prediction error is exactly zero, which is suspicious and is revisited under Limitations.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Three tools. K-Means gives the main segments (choose k with elbow and silhouette). DBSCAN finds dense groups and flags outliers. PCA reduces the 30+ features to two components so we can plot the clusters. The customer table now carries kmeans_segment, dbscan_segment, customer_segment and business_segment. Show your elbow / PCA scatter plots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Clusters only matter once they have a name. Profile each cluster on spend, order value, frequency, weekend and late-night behaviour, tier and cuisine, then label it. Replace the 'what to look for' rows with your actual cluster profiles and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Walk the pipeline: clean the text into cleaned_review, vectorise with TF-IDF so common-but-uninformative words are down-weighted, train the sentiment classifier, then evaluate. State which classifier you used and show its scores.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Three in four reviews are positive, one in five neutral, and only about 6% (1,141) negative. Because negative reviews are rare, accuracy alone is misleading, so report per-class recall and macro-F1. Add your model scores and confusion matrix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Explain the target (delivery time), the features, the models compared (a linear baseline, then tree-based models) and how they were scored. Then state the winning model and show its feature-importance chart. Flag the 0.0 MAE/RMSE in the delivery export: predictions that match actuals perfectly usually mean leakage or a copied column, so verify before claiming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Five steps: decompose the order series into trend, seasonality and residual; test stationarity (ADF) and difference if needed; fit ARIMA; fit Prophet; compare both on the same hold-out window using MAE, RMSE and MAPE. NOTE FOR PRESENTER: forecast_results was not found in the notebook export, so rerun the forecast cell and add the comparison chart and winner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Each model maps to an action. Segments drive targeted offers, sentiment flags unhappy customers for service recovery, delivery models make ETAs honest, and the forecast helps staff riders and restaurants ahead of demand.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Be candid. The biggest one: delivery MAE and RMSE of exactly 0.0 cannot be trusted until checked. Also cover missing data, imbalance, unlinked delivery data, subjective clusters and forecast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Three horizons: first fix and validate what we have, then improve the models, then operationalise them so the business can use them daily.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Recap the three outcomes and open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3716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2926080"/>
            <a:ext cx="7315200" cy="914400"/>
          </a:xfrm>
          <a:prstGeom prst="rect">
            <a:avLst/>
          </a:prstGeom>
          <a:noFill/>
          <a:ln/>
        </p:spPr>
        <p:txBody>
          <a:bodyPr wrap="square" rtlCol="0"/>
          <a:lstStyle>
            <a:lvl1pPr algn="l" indent="0" marL="0">
              <a:buNone/>
              <a:defRPr lang="en-US" sz="1800" dirty="0">
                <a:solidFill>
                  <a:schemeClr val="accent6"/>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Brand circle"/>
          <p:cNvSpPr/>
          <p:nvPr/>
        </p:nvSpPr>
        <p:spPr>
          <a:xfrm>
            <a:off x="6766560" y="548640"/>
            <a:ext cx="1005840" cy="1005840"/>
          </a:xfrm>
          <a:prstGeom prst="ellipse">
            <a:avLst/>
          </a:prstGeom>
          <a:solidFill>
            <a:schemeClr val="accent1"/>
          </a:solidFill>
          <a:ln w="12700">
            <a:solidFill>
              <a:schemeClr val="accent1"/>
            </a:solidFill>
            <a:prstDash val="solid"/>
          </a:ln>
        </p:spPr>
      </p:sp>
      <p:pic>
        <p:nvPicPr>
          <p:cNvPr id="3" name="Image 0" descr="Delivery truck icon">    </p:cNvPr>
          <p:cNvPicPr>
            <a:picLocks noChangeAspect="1"/>
          </p:cNvPicPr>
          <p:nvPr/>
        </p:nvPicPr>
        <p:blipFill>
          <a:blip r:embed="rId1"/>
          <a:stretch>
            <a:fillRect/>
          </a:stretch>
        </p:blipFill>
        <p:spPr>
          <a:xfrm>
            <a:off x="7059168" y="841248"/>
            <a:ext cx="420624" cy="420624"/>
          </a:xfrm>
          <a:prstGeom prst="rect">
            <a:avLst/>
          </a:prstGeom>
        </p:spPr>
      </p:pic>
      <p:sp>
        <p:nvSpPr>
          <p:cNvPr id="4" name="Text 0"/>
          <p:cNvSpPr/>
          <p:nvPr>
            <p:ph idx="100" type="title" hasCustomPrompt="1"/>
          </p:nvPr>
        </p:nvSpPr>
        <p:spPr>
          <a:xfrm>
            <a:off x="548640" y="1371600"/>
            <a:ext cx="8046720" cy="1371600"/>
          </a:xfrm>
          <a:prstGeom prst="rect">
            <a:avLst/>
          </a:prstGeom>
          <a:noFill/>
          <a:ln/>
        </p:spPr>
        <p:txBody>
          <a:bodyPr wrap="square" lIns="0" tIns="0" rIns="0" bIns="0" rtlCol="0" anchor="b"/>
          <a:lstStyle/>
          <a:p>
            <a:pPr algn="l" indent="0" marL="0">
              <a:buNone/>
            </a:pPr>
            <a:r>
              <a:rPr lang="en-US" sz="4000" b="1" dirty="0">
                <a:solidFill>
                  <a:schemeClr val="bg1"/>
                </a:solidFill>
              </a:rPr>
              <a:t>Uber Eats: From Data to Decisions</a:t>
            </a:r>
            <a:endParaRPr lang="en-US" sz="4000" dirty="0"/>
          </a:p>
        </p:txBody>
      </p:sp>
      <p:sp>
        <p:nvSpPr>
          <p:cNvPr id="5" name="Text 0"/>
          <p:cNvSpPr/>
          <p:nvPr>
            <p:ph idx="101" type="body" hasCustomPrompt="1"/>
          </p:nvPr>
        </p:nvSpPr>
        <p:spPr>
          <a:xfrm>
            <a:off x="548640" y="2926080"/>
            <a:ext cx="7315200" cy="914400"/>
          </a:xfrm>
          <a:prstGeom prst="rect">
            <a:avLst/>
          </a:prstGeom>
          <a:noFill/>
          <a:ln/>
        </p:spPr>
        <p:txBody>
          <a:bodyPr wrap="square" lIns="0" tIns="0" rIns="0" bIns="0" rtlCol="0" anchor="t"/>
          <a:lstStyle/>
          <a:p>
            <a:pPr algn="l" indent="0" marL="0">
              <a:buNone/>
            </a:pPr>
            <a:r>
              <a:rPr lang="en-US" sz="1800" dirty="0">
                <a:solidFill>
                  <a:schemeClr val="accent6"/>
                </a:solidFill>
              </a:rPr>
              <a:t>Customer segmentation, review sentiment, delivery prediction and demand forecasting</a:t>
            </a:r>
            <a:endParaRPr lang="en-US" sz="1800" dirty="0"/>
          </a:p>
        </p:txBody>
      </p:sp>
      <p:sp>
        <p:nvSpPr>
          <p:cNvPr id="6" name="Text 3"/>
          <p:cNvSpPr txBox="1"/>
          <p:nvPr/>
        </p:nvSpPr>
        <p:spPr>
          <a:xfrm>
            <a:off x="548640" y="4297680"/>
            <a:ext cx="5486400" cy="274320"/>
          </a:xfrm>
          <a:prstGeom prst="rect">
            <a:avLst/>
          </a:prstGeom>
          <a:noFill/>
          <a:ln/>
        </p:spPr>
        <p:txBody>
          <a:bodyPr wrap="square" lIns="0" tIns="0" rIns="0" bIns="0" rtlCol="0" anchor="t"/>
          <a:lstStyle/>
          <a:p>
            <a:pPr indent="0" marL="0">
              <a:buNone/>
            </a:pPr>
            <a:r>
              <a:rPr lang="en-US" sz="1400" b="1" dirty="0">
                <a:solidFill>
                  <a:schemeClr val="accent1"/>
                </a:solidFill>
              </a:rPr>
              <a:t>Day 7 · Final ML Presentation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The Business Problem</a:t>
            </a:r>
            <a:endParaRPr lang="en-US" sz="3200" dirty="0"/>
          </a:p>
        </p:txBody>
      </p:sp>
      <p:sp>
        <p:nvSpPr>
          <p:cNvPr id="4" name="Text 1"/>
          <p:cNvSpPr txBox="1"/>
          <p:nvPr/>
        </p:nvSpPr>
        <p:spPr>
          <a:xfrm>
            <a:off x="457200" y="1143000"/>
            <a:ext cx="8229600" cy="548640"/>
          </a:xfrm>
          <a:prstGeom prst="rect">
            <a:avLst/>
          </a:prstGeom>
          <a:noFill/>
          <a:ln/>
        </p:spPr>
        <p:txBody>
          <a:bodyPr wrap="square" lIns="0" tIns="0" rIns="0" bIns="0" rtlCol="0" anchor="t"/>
          <a:lstStyle/>
          <a:p>
            <a:pPr indent="0" marL="0">
              <a:buNone/>
            </a:pPr>
            <a:r>
              <a:rPr lang="en-US" sz="1800" b="1" dirty="0">
                <a:solidFill>
                  <a:schemeClr val="accent5"/>
                </a:solidFill>
              </a:rPr>
              <a:t>Uber Eats needs to turn orders, reviews and delivery logs into decisions.</a:t>
            </a:r>
            <a:endParaRPr lang="en-US" sz="1800" dirty="0"/>
          </a:p>
        </p:txBody>
      </p:sp>
      <p:sp>
        <p:nvSpPr>
          <p:cNvPr id="5" name="Problem card 1"/>
          <p:cNvSpPr/>
          <p:nvPr/>
        </p:nvSpPr>
        <p:spPr>
          <a:xfrm>
            <a:off x="457200" y="1920240"/>
            <a:ext cx="2560320" cy="2651760"/>
          </a:xfrm>
          <a:prstGeom prst="roundRect">
            <a:avLst>
              <a:gd name="adj" fmla="val 4286"/>
            </a:avLst>
          </a:prstGeom>
          <a:solidFill>
            <a:schemeClr val="bg2"/>
          </a:solidFill>
          <a:ln w="12700">
            <a:solidFill>
              <a:schemeClr val="bg2"/>
            </a:solidFill>
            <a:prstDash val="solid"/>
          </a:ln>
        </p:spPr>
      </p:sp>
      <p:sp>
        <p:nvSpPr>
          <p:cNvPr id="6" name="Icon circle users"/>
          <p:cNvSpPr/>
          <p:nvPr/>
        </p:nvSpPr>
        <p:spPr>
          <a:xfrm>
            <a:off x="685800" y="2148840"/>
            <a:ext cx="502920" cy="502920"/>
          </a:xfrm>
          <a:prstGeom prst="ellipse">
            <a:avLst/>
          </a:prstGeom>
          <a:solidFill>
            <a:schemeClr val="accent1"/>
          </a:solidFill>
          <a:ln w="12700">
            <a:solidFill>
              <a:schemeClr val="accent1"/>
            </a:solidFill>
            <a:prstDash val="solid"/>
          </a:ln>
        </p:spPr>
      </p:sp>
      <p:pic>
        <p:nvPicPr>
          <p:cNvPr id="7" name="Image 0" descr="users icon">    </p:cNvPr>
          <p:cNvPicPr>
            <a:picLocks noChangeAspect="1"/>
          </p:cNvPicPr>
          <p:nvPr/>
        </p:nvPicPr>
        <p:blipFill>
          <a:blip r:embed="rId1"/>
          <a:stretch>
            <a:fillRect/>
          </a:stretch>
        </p:blipFill>
        <p:spPr>
          <a:xfrm>
            <a:off x="811530" y="2274570"/>
            <a:ext cx="251460" cy="251460"/>
          </a:xfrm>
          <a:prstGeom prst="rect">
            <a:avLst/>
          </a:prstGeom>
        </p:spPr>
      </p:pic>
      <p:sp>
        <p:nvSpPr>
          <p:cNvPr id="8" name="Text 4"/>
          <p:cNvSpPr txBox="1"/>
          <p:nvPr/>
        </p:nvSpPr>
        <p:spPr>
          <a:xfrm>
            <a:off x="685800" y="2834640"/>
            <a:ext cx="2103120" cy="640080"/>
          </a:xfrm>
          <a:prstGeom prst="rect">
            <a:avLst/>
          </a:prstGeom>
          <a:noFill/>
          <a:ln/>
        </p:spPr>
        <p:txBody>
          <a:bodyPr wrap="square" lIns="0" tIns="0" rIns="0" bIns="0" rtlCol="0" anchor="t"/>
          <a:lstStyle/>
          <a:p>
            <a:pPr indent="0" marL="0">
              <a:buNone/>
            </a:pPr>
            <a:r>
              <a:rPr lang="en-US" sz="1800" b="1" dirty="0">
                <a:solidFill>
                  <a:schemeClr val="tx1"/>
                </a:solidFill>
              </a:rPr>
              <a:t>Who are our customers?</a:t>
            </a:r>
            <a:endParaRPr lang="en-US" sz="1800" dirty="0"/>
          </a:p>
        </p:txBody>
      </p:sp>
      <p:sp>
        <p:nvSpPr>
          <p:cNvPr id="9" name="Text 5"/>
          <p:cNvSpPr txBox="1"/>
          <p:nvPr/>
        </p:nvSpPr>
        <p:spPr>
          <a:xfrm>
            <a:off x="685800" y="3474720"/>
            <a:ext cx="2148840" cy="1005840"/>
          </a:xfrm>
          <a:prstGeom prst="rect">
            <a:avLst/>
          </a:prstGeom>
          <a:noFill/>
          <a:ln/>
        </p:spPr>
        <p:txBody>
          <a:bodyPr wrap="square" lIns="0" tIns="0" rIns="0" bIns="0" rtlCol="0" anchor="t"/>
          <a:lstStyle/>
          <a:p>
            <a:pPr indent="0" marL="0">
              <a:buNone/>
            </a:pPr>
            <a:r>
              <a:rPr lang="en-US" sz="1400" dirty="0">
                <a:solidFill>
                  <a:schemeClr val="tx1"/>
                </a:solidFill>
              </a:rPr>
              <a:t>Group 8,000 customers by spend, frequency and habits so offers fit each group.</a:t>
            </a:r>
            <a:endParaRPr lang="en-US" sz="1400" dirty="0"/>
          </a:p>
        </p:txBody>
      </p:sp>
      <p:sp>
        <p:nvSpPr>
          <p:cNvPr id="10" name="Problem card 2"/>
          <p:cNvSpPr/>
          <p:nvPr/>
        </p:nvSpPr>
        <p:spPr>
          <a:xfrm>
            <a:off x="3291840" y="1920240"/>
            <a:ext cx="2560320" cy="2651760"/>
          </a:xfrm>
          <a:prstGeom prst="roundRect">
            <a:avLst>
              <a:gd name="adj" fmla="val 4286"/>
            </a:avLst>
          </a:prstGeom>
          <a:solidFill>
            <a:schemeClr val="bg2"/>
          </a:solidFill>
          <a:ln w="12700">
            <a:solidFill>
              <a:schemeClr val="bg2"/>
            </a:solidFill>
            <a:prstDash val="solid"/>
          </a:ln>
        </p:spPr>
      </p:sp>
      <p:sp>
        <p:nvSpPr>
          <p:cNvPr id="11" name="Icon circle comments"/>
          <p:cNvSpPr/>
          <p:nvPr/>
        </p:nvSpPr>
        <p:spPr>
          <a:xfrm>
            <a:off x="3520440" y="2148840"/>
            <a:ext cx="502920" cy="502920"/>
          </a:xfrm>
          <a:prstGeom prst="ellipse">
            <a:avLst/>
          </a:prstGeom>
          <a:solidFill>
            <a:schemeClr val="accent1"/>
          </a:solidFill>
          <a:ln w="12700">
            <a:solidFill>
              <a:schemeClr val="accent1"/>
            </a:solidFill>
            <a:prstDash val="solid"/>
          </a:ln>
        </p:spPr>
      </p:sp>
      <p:pic>
        <p:nvPicPr>
          <p:cNvPr id="12" name="Image 1" descr="comments icon">    </p:cNvPr>
          <p:cNvPicPr>
            <a:picLocks noChangeAspect="1"/>
          </p:cNvPicPr>
          <p:nvPr/>
        </p:nvPicPr>
        <p:blipFill>
          <a:blip r:embed="rId2"/>
          <a:stretch>
            <a:fillRect/>
          </a:stretch>
        </p:blipFill>
        <p:spPr>
          <a:xfrm>
            <a:off x="3646170" y="2274570"/>
            <a:ext cx="251460" cy="251460"/>
          </a:xfrm>
          <a:prstGeom prst="rect">
            <a:avLst/>
          </a:prstGeom>
        </p:spPr>
      </p:pic>
      <p:sp>
        <p:nvSpPr>
          <p:cNvPr id="13" name="Text 8"/>
          <p:cNvSpPr txBox="1"/>
          <p:nvPr/>
        </p:nvSpPr>
        <p:spPr>
          <a:xfrm>
            <a:off x="3520440" y="2834640"/>
            <a:ext cx="2103120" cy="640080"/>
          </a:xfrm>
          <a:prstGeom prst="rect">
            <a:avLst/>
          </a:prstGeom>
          <a:noFill/>
          <a:ln/>
        </p:spPr>
        <p:txBody>
          <a:bodyPr wrap="square" lIns="0" tIns="0" rIns="0" bIns="0" rtlCol="0" anchor="t"/>
          <a:lstStyle/>
          <a:p>
            <a:pPr indent="0" marL="0">
              <a:buNone/>
            </a:pPr>
            <a:r>
              <a:rPr lang="en-US" sz="1800" b="1" dirty="0">
                <a:solidFill>
                  <a:schemeClr val="tx1"/>
                </a:solidFill>
              </a:rPr>
              <a:t>What are they saying?</a:t>
            </a:r>
            <a:endParaRPr lang="en-US" sz="1800" dirty="0"/>
          </a:p>
        </p:txBody>
      </p:sp>
      <p:sp>
        <p:nvSpPr>
          <p:cNvPr id="14" name="Text 9"/>
          <p:cNvSpPr txBox="1"/>
          <p:nvPr/>
        </p:nvSpPr>
        <p:spPr>
          <a:xfrm>
            <a:off x="3520440" y="3474720"/>
            <a:ext cx="2148840" cy="1005840"/>
          </a:xfrm>
          <a:prstGeom prst="rect">
            <a:avLst/>
          </a:prstGeom>
          <a:noFill/>
          <a:ln/>
        </p:spPr>
        <p:txBody>
          <a:bodyPr wrap="square" lIns="0" tIns="0" rIns="0" bIns="0" rtlCol="0" anchor="t"/>
          <a:lstStyle/>
          <a:p>
            <a:pPr indent="0" marL="0">
              <a:buNone/>
            </a:pPr>
            <a:r>
              <a:rPr lang="en-US" sz="1400" dirty="0">
                <a:solidFill>
                  <a:schemeClr val="tx1"/>
                </a:solidFill>
              </a:rPr>
              <a:t>Mine 19,082 reviews to spot unhappy customers and recurring complaints.</a:t>
            </a:r>
            <a:endParaRPr lang="en-US" sz="1400" dirty="0"/>
          </a:p>
        </p:txBody>
      </p:sp>
      <p:sp>
        <p:nvSpPr>
          <p:cNvPr id="15" name="Problem card 3"/>
          <p:cNvSpPr/>
          <p:nvPr/>
        </p:nvSpPr>
        <p:spPr>
          <a:xfrm>
            <a:off x="6126480" y="1920240"/>
            <a:ext cx="2560320" cy="2651760"/>
          </a:xfrm>
          <a:prstGeom prst="roundRect">
            <a:avLst>
              <a:gd name="adj" fmla="val 4286"/>
            </a:avLst>
          </a:prstGeom>
          <a:solidFill>
            <a:schemeClr val="bg2"/>
          </a:solidFill>
          <a:ln w="12700">
            <a:solidFill>
              <a:schemeClr val="bg2"/>
            </a:solidFill>
            <a:prstDash val="solid"/>
          </a:ln>
        </p:spPr>
      </p:sp>
      <p:sp>
        <p:nvSpPr>
          <p:cNvPr id="16" name="Icon circle truck"/>
          <p:cNvSpPr/>
          <p:nvPr/>
        </p:nvSpPr>
        <p:spPr>
          <a:xfrm>
            <a:off x="6355080" y="2148840"/>
            <a:ext cx="502920" cy="502920"/>
          </a:xfrm>
          <a:prstGeom prst="ellipse">
            <a:avLst/>
          </a:prstGeom>
          <a:solidFill>
            <a:schemeClr val="accent1"/>
          </a:solidFill>
          <a:ln w="12700">
            <a:solidFill>
              <a:schemeClr val="accent1"/>
            </a:solidFill>
            <a:prstDash val="solid"/>
          </a:ln>
        </p:spPr>
      </p:sp>
      <p:pic>
        <p:nvPicPr>
          <p:cNvPr id="17" name="Image 2" descr="truck icon">    </p:cNvPr>
          <p:cNvPicPr>
            <a:picLocks noChangeAspect="1"/>
          </p:cNvPicPr>
          <p:nvPr/>
        </p:nvPicPr>
        <p:blipFill>
          <a:blip r:embed="rId3"/>
          <a:stretch>
            <a:fillRect/>
          </a:stretch>
        </p:blipFill>
        <p:spPr>
          <a:xfrm>
            <a:off x="6480810" y="2274570"/>
            <a:ext cx="251460" cy="251460"/>
          </a:xfrm>
          <a:prstGeom prst="rect">
            <a:avLst/>
          </a:prstGeom>
        </p:spPr>
      </p:pic>
      <p:sp>
        <p:nvSpPr>
          <p:cNvPr id="18" name="Text 12"/>
          <p:cNvSpPr txBox="1"/>
          <p:nvPr/>
        </p:nvSpPr>
        <p:spPr>
          <a:xfrm>
            <a:off x="6355080" y="2834640"/>
            <a:ext cx="2103120" cy="640080"/>
          </a:xfrm>
          <a:prstGeom prst="rect">
            <a:avLst/>
          </a:prstGeom>
          <a:noFill/>
          <a:ln/>
        </p:spPr>
        <p:txBody>
          <a:bodyPr wrap="square" lIns="0" tIns="0" rIns="0" bIns="0" rtlCol="0" anchor="t"/>
          <a:lstStyle/>
          <a:p>
            <a:pPr indent="0" marL="0">
              <a:buNone/>
            </a:pPr>
            <a:r>
              <a:rPr lang="en-US" sz="1800" b="1" dirty="0">
                <a:solidFill>
                  <a:schemeClr val="tx1"/>
                </a:solidFill>
              </a:rPr>
              <a:t>Can we deliver on time?</a:t>
            </a:r>
            <a:endParaRPr lang="en-US" sz="1800" dirty="0"/>
          </a:p>
        </p:txBody>
      </p:sp>
      <p:sp>
        <p:nvSpPr>
          <p:cNvPr id="19" name="Text 13"/>
          <p:cNvSpPr txBox="1"/>
          <p:nvPr/>
        </p:nvSpPr>
        <p:spPr>
          <a:xfrm>
            <a:off x="6355080" y="3474720"/>
            <a:ext cx="2148840" cy="1005840"/>
          </a:xfrm>
          <a:prstGeom prst="rect">
            <a:avLst/>
          </a:prstGeom>
          <a:noFill/>
          <a:ln/>
        </p:spPr>
        <p:txBody>
          <a:bodyPr wrap="square" lIns="0" tIns="0" rIns="0" bIns="0" rtlCol="0" anchor="t"/>
          <a:lstStyle/>
          <a:p>
            <a:pPr indent="0" marL="0">
              <a:buNone/>
            </a:pPr>
            <a:r>
              <a:rPr lang="en-US" sz="1400" dirty="0">
                <a:solidFill>
                  <a:schemeClr val="tx1"/>
                </a:solidFill>
              </a:rPr>
              <a:t>Predict delivery times and forecast demand to plan riders and restaurants.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The Data We Used</a:t>
            </a:r>
            <a:endParaRPr lang="en-US" sz="3200" dirty="0"/>
          </a:p>
        </p:txBody>
      </p:sp>
      <p:graphicFrame>
        <p:nvGraphicFramePr>
          <p:cNvPr id="4" name="Chart 0" descr=""/>
          <p:cNvGraphicFramePr/>
          <p:nvPr/>
        </p:nvGraphicFramePr>
        <p:xfrm>
          <a:off x="365760" y="1188720"/>
          <a:ext cx="4206240" cy="3474720"/>
        </p:xfrm>
        <a:graphic xmlns:a="http://schemas.openxmlformats.org/drawingml/2006/main">
          <a:graphicData uri="http://schemas.openxmlformats.org/drawingml/2006/chart">
            <c:chart xmlns:c="http://schemas.openxmlformats.org/drawingml/2006/chart" r:id="rId1"/>
          </a:graphicData>
        </a:graphic>
      </p:graphicFrame>
      <p:sp>
        <p:nvSpPr>
          <p:cNvPr id="5" name="Dataset card Customers"/>
          <p:cNvSpPr/>
          <p:nvPr/>
        </p:nvSpPr>
        <p:spPr>
          <a:xfrm>
            <a:off x="4846320" y="1234440"/>
            <a:ext cx="3840480" cy="731520"/>
          </a:xfrm>
          <a:prstGeom prst="roundRect">
            <a:avLst>
              <a:gd name="adj" fmla="val 15000"/>
            </a:avLst>
          </a:prstGeom>
          <a:solidFill>
            <a:schemeClr val="bg2"/>
          </a:solidFill>
          <a:ln w="12700">
            <a:solidFill>
              <a:schemeClr val="bg2"/>
            </a:solidFill>
            <a:prstDash val="solid"/>
          </a:ln>
        </p:spPr>
      </p:sp>
      <p:sp>
        <p:nvSpPr>
          <p:cNvPr id="6" name="Text 2"/>
          <p:cNvSpPr txBox="1"/>
          <p:nvPr/>
        </p:nvSpPr>
        <p:spPr>
          <a:xfrm>
            <a:off x="5029200" y="1307592"/>
            <a:ext cx="3566160" cy="274320"/>
          </a:xfrm>
          <a:prstGeom prst="rect">
            <a:avLst/>
          </a:prstGeom>
          <a:noFill/>
          <a:ln/>
        </p:spPr>
        <p:txBody>
          <a:bodyPr wrap="square" lIns="0" tIns="0" rIns="0" bIns="0" rtlCol="0" anchor="t"/>
          <a:lstStyle/>
          <a:p>
            <a:pPr indent="0" marL="0">
              <a:buNone/>
            </a:pPr>
            <a:r>
              <a:rPr lang="en-US" sz="1600" b="1" dirty="0">
                <a:solidFill>
                  <a:schemeClr val="tx1"/>
                </a:solidFill>
              </a:rPr>
              <a:t>Customers</a:t>
            </a:r>
            <a:endParaRPr lang="en-US" sz="1600" dirty="0"/>
          </a:p>
        </p:txBody>
      </p:sp>
      <p:sp>
        <p:nvSpPr>
          <p:cNvPr id="7" name="Text 3"/>
          <p:cNvSpPr txBox="1"/>
          <p:nvPr/>
        </p:nvSpPr>
        <p:spPr>
          <a:xfrm>
            <a:off x="5029200" y="1581912"/>
            <a:ext cx="3566160" cy="228600"/>
          </a:xfrm>
          <a:prstGeom prst="rect">
            <a:avLst/>
          </a:prstGeom>
          <a:noFill/>
          <a:ln/>
        </p:spPr>
        <p:txBody>
          <a:bodyPr wrap="square" lIns="0" tIns="0" rIns="0" bIns="0" rtlCol="0" anchor="t"/>
          <a:lstStyle/>
          <a:p>
            <a:pPr indent="0" marL="0">
              <a:buNone/>
            </a:pPr>
            <a:r>
              <a:rPr lang="en-US" sz="1200" b="1" dirty="0">
                <a:solidFill>
                  <a:schemeClr val="accent5"/>
                </a:solidFill>
              </a:rPr>
              <a:t>8,000 rows · 32 columns · 899 missing</a:t>
            </a:r>
            <a:endParaRPr lang="en-US" sz="1200" dirty="0"/>
          </a:p>
        </p:txBody>
      </p:sp>
      <p:sp>
        <p:nvSpPr>
          <p:cNvPr id="8" name="Text 4"/>
          <p:cNvSpPr txBox="1"/>
          <p:nvPr/>
        </p:nvSpPr>
        <p:spPr>
          <a:xfrm>
            <a:off x="5029200" y="1764792"/>
            <a:ext cx="3566160" cy="182880"/>
          </a:xfrm>
          <a:prstGeom prst="rect">
            <a:avLst/>
          </a:prstGeom>
          <a:noFill/>
          <a:ln/>
        </p:spPr>
        <p:txBody>
          <a:bodyPr wrap="square" lIns="0" tIns="0" rIns="0" bIns="0" rtlCol="0" anchor="t"/>
          <a:lstStyle/>
          <a:p>
            <a:pPr indent="0" marL="0">
              <a:buNone/>
            </a:pPr>
            <a:r>
              <a:rPr lang="en-US" sz="1100" dirty="0">
                <a:solidFill>
                  <a:schemeClr val="accent4"/>
                </a:solidFill>
              </a:rPr>
              <a:t>Demographics, tier, spend, segments</a:t>
            </a:r>
            <a:endParaRPr lang="en-US" sz="1100" dirty="0"/>
          </a:p>
        </p:txBody>
      </p:sp>
      <p:sp>
        <p:nvSpPr>
          <p:cNvPr id="9" name="Dataset card Restaurants"/>
          <p:cNvSpPr/>
          <p:nvPr/>
        </p:nvSpPr>
        <p:spPr>
          <a:xfrm>
            <a:off x="4846320" y="2103120"/>
            <a:ext cx="3840480" cy="731520"/>
          </a:xfrm>
          <a:prstGeom prst="roundRect">
            <a:avLst>
              <a:gd name="adj" fmla="val 15000"/>
            </a:avLst>
          </a:prstGeom>
          <a:solidFill>
            <a:schemeClr val="bg2"/>
          </a:solidFill>
          <a:ln w="12700">
            <a:solidFill>
              <a:schemeClr val="bg2"/>
            </a:solidFill>
            <a:prstDash val="solid"/>
          </a:ln>
        </p:spPr>
      </p:sp>
      <p:sp>
        <p:nvSpPr>
          <p:cNvPr id="10" name="Text 6"/>
          <p:cNvSpPr txBox="1"/>
          <p:nvPr/>
        </p:nvSpPr>
        <p:spPr>
          <a:xfrm>
            <a:off x="5029200" y="2176272"/>
            <a:ext cx="3566160" cy="274320"/>
          </a:xfrm>
          <a:prstGeom prst="rect">
            <a:avLst/>
          </a:prstGeom>
          <a:noFill/>
          <a:ln/>
        </p:spPr>
        <p:txBody>
          <a:bodyPr wrap="square" lIns="0" tIns="0" rIns="0" bIns="0" rtlCol="0" anchor="t"/>
          <a:lstStyle/>
          <a:p>
            <a:pPr indent="0" marL="0">
              <a:buNone/>
            </a:pPr>
            <a:r>
              <a:rPr lang="en-US" sz="1600" b="1" dirty="0">
                <a:solidFill>
                  <a:schemeClr val="tx1"/>
                </a:solidFill>
              </a:rPr>
              <a:t>Restaurants</a:t>
            </a:r>
            <a:endParaRPr lang="en-US" sz="1600" dirty="0"/>
          </a:p>
        </p:txBody>
      </p:sp>
      <p:sp>
        <p:nvSpPr>
          <p:cNvPr id="11" name="Text 7"/>
          <p:cNvSpPr txBox="1"/>
          <p:nvPr/>
        </p:nvSpPr>
        <p:spPr>
          <a:xfrm>
            <a:off x="5029200" y="2450592"/>
            <a:ext cx="3566160" cy="228600"/>
          </a:xfrm>
          <a:prstGeom prst="rect">
            <a:avLst/>
          </a:prstGeom>
          <a:noFill/>
          <a:ln/>
        </p:spPr>
        <p:txBody>
          <a:bodyPr wrap="square" lIns="0" tIns="0" rIns="0" bIns="0" rtlCol="0" anchor="t"/>
          <a:lstStyle/>
          <a:p>
            <a:pPr indent="0" marL="0">
              <a:buNone/>
            </a:pPr>
            <a:r>
              <a:rPr lang="en-US" sz="1200" b="1" dirty="0">
                <a:solidFill>
                  <a:schemeClr val="accent5"/>
                </a:solidFill>
              </a:rPr>
              <a:t>500 rows · 7 columns · 0 missing</a:t>
            </a:r>
            <a:endParaRPr lang="en-US" sz="1200" dirty="0"/>
          </a:p>
        </p:txBody>
      </p:sp>
      <p:sp>
        <p:nvSpPr>
          <p:cNvPr id="12" name="Text 8"/>
          <p:cNvSpPr txBox="1"/>
          <p:nvPr/>
        </p:nvSpPr>
        <p:spPr>
          <a:xfrm>
            <a:off x="5029200" y="2633472"/>
            <a:ext cx="3566160" cy="182880"/>
          </a:xfrm>
          <a:prstGeom prst="rect">
            <a:avLst/>
          </a:prstGeom>
          <a:noFill/>
          <a:ln/>
        </p:spPr>
        <p:txBody>
          <a:bodyPr wrap="square" lIns="0" tIns="0" rIns="0" bIns="0" rtlCol="0" anchor="t"/>
          <a:lstStyle/>
          <a:p>
            <a:pPr indent="0" marL="0">
              <a:buNone/>
            </a:pPr>
            <a:r>
              <a:rPr lang="en-US" sz="1100" dirty="0">
                <a:solidFill>
                  <a:schemeClr val="accent4"/>
                </a:solidFill>
              </a:rPr>
              <a:t>Delivery &amp; prep time, rating, revenue</a:t>
            </a:r>
            <a:endParaRPr lang="en-US" sz="1100" dirty="0"/>
          </a:p>
        </p:txBody>
      </p:sp>
      <p:sp>
        <p:nvSpPr>
          <p:cNvPr id="13" name="Dataset card Sentiment"/>
          <p:cNvSpPr/>
          <p:nvPr/>
        </p:nvSpPr>
        <p:spPr>
          <a:xfrm>
            <a:off x="4846320" y="2971800"/>
            <a:ext cx="3840480" cy="731520"/>
          </a:xfrm>
          <a:prstGeom prst="roundRect">
            <a:avLst>
              <a:gd name="adj" fmla="val 15000"/>
            </a:avLst>
          </a:prstGeom>
          <a:solidFill>
            <a:schemeClr val="bg2"/>
          </a:solidFill>
          <a:ln w="12700">
            <a:solidFill>
              <a:schemeClr val="bg2"/>
            </a:solidFill>
            <a:prstDash val="solid"/>
          </a:ln>
        </p:spPr>
      </p:sp>
      <p:sp>
        <p:nvSpPr>
          <p:cNvPr id="14" name="Text 10"/>
          <p:cNvSpPr txBox="1"/>
          <p:nvPr/>
        </p:nvSpPr>
        <p:spPr>
          <a:xfrm>
            <a:off x="5029200" y="3044952"/>
            <a:ext cx="3566160" cy="274320"/>
          </a:xfrm>
          <a:prstGeom prst="rect">
            <a:avLst/>
          </a:prstGeom>
          <a:noFill/>
          <a:ln/>
        </p:spPr>
        <p:txBody>
          <a:bodyPr wrap="square" lIns="0" tIns="0" rIns="0" bIns="0" rtlCol="0" anchor="t"/>
          <a:lstStyle/>
          <a:p>
            <a:pPr indent="0" marL="0">
              <a:buNone/>
            </a:pPr>
            <a:r>
              <a:rPr lang="en-US" sz="1600" b="1" dirty="0">
                <a:solidFill>
                  <a:schemeClr val="tx1"/>
                </a:solidFill>
              </a:rPr>
              <a:t>Sentiment</a:t>
            </a:r>
            <a:endParaRPr lang="en-US" sz="1600" dirty="0"/>
          </a:p>
        </p:txBody>
      </p:sp>
      <p:sp>
        <p:nvSpPr>
          <p:cNvPr id="15" name="Text 11"/>
          <p:cNvSpPr txBox="1"/>
          <p:nvPr/>
        </p:nvSpPr>
        <p:spPr>
          <a:xfrm>
            <a:off x="5029200" y="3319272"/>
            <a:ext cx="3566160" cy="228600"/>
          </a:xfrm>
          <a:prstGeom prst="rect">
            <a:avLst/>
          </a:prstGeom>
          <a:noFill/>
          <a:ln/>
        </p:spPr>
        <p:txBody>
          <a:bodyPr wrap="square" lIns="0" tIns="0" rIns="0" bIns="0" rtlCol="0" anchor="t"/>
          <a:lstStyle/>
          <a:p>
            <a:pPr indent="0" marL="0">
              <a:buNone/>
            </a:pPr>
            <a:r>
              <a:rPr lang="en-US" sz="1200" b="1" dirty="0">
                <a:solidFill>
                  <a:schemeClr val="accent5"/>
                </a:solidFill>
              </a:rPr>
              <a:t>19,082 rows · 10 columns · 0 missing</a:t>
            </a:r>
            <a:endParaRPr lang="en-US" sz="1200" dirty="0"/>
          </a:p>
        </p:txBody>
      </p:sp>
      <p:sp>
        <p:nvSpPr>
          <p:cNvPr id="16" name="Text 12"/>
          <p:cNvSpPr txBox="1"/>
          <p:nvPr/>
        </p:nvSpPr>
        <p:spPr>
          <a:xfrm>
            <a:off x="5029200" y="3502152"/>
            <a:ext cx="3566160" cy="182880"/>
          </a:xfrm>
          <a:prstGeom prst="rect">
            <a:avLst/>
          </a:prstGeom>
          <a:noFill/>
          <a:ln/>
        </p:spPr>
        <p:txBody>
          <a:bodyPr wrap="square" lIns="0" tIns="0" rIns="0" bIns="0" rtlCol="0" anchor="t"/>
          <a:lstStyle/>
          <a:p>
            <a:pPr indent="0" marL="0">
              <a:buNone/>
            </a:pPr>
            <a:r>
              <a:rPr lang="en-US" sz="1100" dirty="0">
                <a:solidFill>
                  <a:schemeClr val="accent4"/>
                </a:solidFill>
              </a:rPr>
              <a:t>Review text, rating, sentiment label</a:t>
            </a:r>
            <a:endParaRPr lang="en-US" sz="1100" dirty="0"/>
          </a:p>
        </p:txBody>
      </p:sp>
      <p:sp>
        <p:nvSpPr>
          <p:cNvPr id="17" name="Dataset card Delivery"/>
          <p:cNvSpPr/>
          <p:nvPr/>
        </p:nvSpPr>
        <p:spPr>
          <a:xfrm>
            <a:off x="4846320" y="3840480"/>
            <a:ext cx="3840480" cy="731520"/>
          </a:xfrm>
          <a:prstGeom prst="roundRect">
            <a:avLst>
              <a:gd name="adj" fmla="val 15000"/>
            </a:avLst>
          </a:prstGeom>
          <a:solidFill>
            <a:schemeClr val="bg2"/>
          </a:solidFill>
          <a:ln w="12700">
            <a:solidFill>
              <a:schemeClr val="bg2"/>
            </a:solidFill>
            <a:prstDash val="solid"/>
          </a:ln>
        </p:spPr>
      </p:sp>
      <p:sp>
        <p:nvSpPr>
          <p:cNvPr id="18" name="Text 14"/>
          <p:cNvSpPr txBox="1"/>
          <p:nvPr/>
        </p:nvSpPr>
        <p:spPr>
          <a:xfrm>
            <a:off x="5029200" y="3913632"/>
            <a:ext cx="3566160" cy="274320"/>
          </a:xfrm>
          <a:prstGeom prst="rect">
            <a:avLst/>
          </a:prstGeom>
          <a:noFill/>
          <a:ln/>
        </p:spPr>
        <p:txBody>
          <a:bodyPr wrap="square" lIns="0" tIns="0" rIns="0" bIns="0" rtlCol="0" anchor="t"/>
          <a:lstStyle/>
          <a:p>
            <a:pPr indent="0" marL="0">
              <a:buNone/>
            </a:pPr>
            <a:r>
              <a:rPr lang="en-US" sz="1600" b="1" dirty="0">
                <a:solidFill>
                  <a:schemeClr val="tx1"/>
                </a:solidFill>
              </a:rPr>
              <a:t>Delivery</a:t>
            </a:r>
            <a:endParaRPr lang="en-US" sz="1600" dirty="0"/>
          </a:p>
        </p:txBody>
      </p:sp>
      <p:sp>
        <p:nvSpPr>
          <p:cNvPr id="19" name="Text 15"/>
          <p:cNvSpPr txBox="1"/>
          <p:nvPr/>
        </p:nvSpPr>
        <p:spPr>
          <a:xfrm>
            <a:off x="5029200" y="4187952"/>
            <a:ext cx="3566160" cy="228600"/>
          </a:xfrm>
          <a:prstGeom prst="rect">
            <a:avLst/>
          </a:prstGeom>
          <a:noFill/>
          <a:ln/>
        </p:spPr>
        <p:txBody>
          <a:bodyPr wrap="square" lIns="0" tIns="0" rIns="0" bIns="0" rtlCol="0" anchor="t"/>
          <a:lstStyle/>
          <a:p>
            <a:pPr indent="0" marL="0">
              <a:buNone/>
            </a:pPr>
            <a:r>
              <a:rPr lang="en-US" sz="1200" b="1" dirty="0">
                <a:solidFill>
                  <a:schemeClr val="accent5"/>
                </a:solidFill>
              </a:rPr>
              <a:t>9,082 rows · 4 columns · 0 missing</a:t>
            </a:r>
            <a:endParaRPr lang="en-US" sz="1200" dirty="0"/>
          </a:p>
        </p:txBody>
      </p:sp>
      <p:sp>
        <p:nvSpPr>
          <p:cNvPr id="20" name="Text 16"/>
          <p:cNvSpPr txBox="1"/>
          <p:nvPr/>
        </p:nvSpPr>
        <p:spPr>
          <a:xfrm>
            <a:off x="5029200" y="4370832"/>
            <a:ext cx="3566160" cy="182880"/>
          </a:xfrm>
          <a:prstGeom prst="rect">
            <a:avLst/>
          </a:prstGeom>
          <a:noFill/>
          <a:ln/>
        </p:spPr>
        <p:txBody>
          <a:bodyPr wrap="square" lIns="0" tIns="0" rIns="0" bIns="0" rtlCol="0" anchor="t"/>
          <a:lstStyle/>
          <a:p>
            <a:pPr indent="0" marL="0">
              <a:buNone/>
            </a:pPr>
            <a:r>
              <a:rPr lang="en-US" sz="1100" dirty="0">
                <a:solidFill>
                  <a:schemeClr val="accent4"/>
                </a:solidFill>
              </a:rPr>
              <a:t>Actual vs predicted delivery time</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Data Quality Issues</a:t>
            </a:r>
            <a:endParaRPr lang="en-US" sz="3200" dirty="0"/>
          </a:p>
        </p:txBody>
      </p:sp>
      <p:sp>
        <p:nvSpPr>
          <p:cNvPr id="4" name="Text 1"/>
          <p:cNvSpPr txBox="1"/>
          <p:nvPr/>
        </p:nvSpPr>
        <p:spPr>
          <a:xfrm>
            <a:off x="457200" y="1188720"/>
            <a:ext cx="4023360" cy="365760"/>
          </a:xfrm>
          <a:prstGeom prst="rect">
            <a:avLst/>
          </a:prstGeom>
          <a:noFill/>
          <a:ln/>
        </p:spPr>
        <p:txBody>
          <a:bodyPr wrap="square" lIns="0" tIns="0" rIns="0" bIns="0" rtlCol="0" anchor="t"/>
          <a:lstStyle/>
          <a:p>
            <a:pPr indent="0" marL="0">
              <a:buNone/>
            </a:pPr>
            <a:r>
              <a:rPr lang="en-US" sz="2000" b="1" dirty="0">
                <a:solidFill>
                  <a:schemeClr val="accent3"/>
                </a:solidFill>
              </a:rPr>
              <a:t>Issues found</a:t>
            </a:r>
            <a:endParaRPr lang="en-US" sz="2000" dirty="0"/>
          </a:p>
        </p:txBody>
      </p:sp>
      <p:sp>
        <p:nvSpPr>
          <p:cNvPr id="5" name="Issue number 1"/>
          <p:cNvSpPr/>
          <p:nvPr/>
        </p:nvSpPr>
        <p:spPr>
          <a:xfrm>
            <a:off x="457200" y="1691640"/>
            <a:ext cx="411480" cy="411480"/>
          </a:xfrm>
          <a:prstGeom prst="ellipse">
            <a:avLst/>
          </a:prstGeom>
          <a:solidFill>
            <a:schemeClr val="accent3"/>
          </a:solidFill>
          <a:ln w="12700">
            <a:solidFill>
              <a:schemeClr val="accent3"/>
            </a:solidFill>
            <a:prstDash val="solid"/>
          </a:ln>
        </p:spPr>
      </p:sp>
      <p:sp>
        <p:nvSpPr>
          <p:cNvPr id="6" name="Text 3"/>
          <p:cNvSpPr txBox="1"/>
          <p:nvPr/>
        </p:nvSpPr>
        <p:spPr>
          <a:xfrm>
            <a:off x="457200" y="169164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1051560" y="1645920"/>
            <a:ext cx="3474720" cy="548640"/>
          </a:xfrm>
          <a:prstGeom prst="rect">
            <a:avLst/>
          </a:prstGeom>
          <a:noFill/>
          <a:ln/>
        </p:spPr>
        <p:txBody>
          <a:bodyPr wrap="square" lIns="0" tIns="0" rIns="0" bIns="0" rtlCol="0" anchor="ctr"/>
          <a:lstStyle/>
          <a:p>
            <a:pPr indent="0" marL="0">
              <a:buNone/>
            </a:pPr>
            <a:r>
              <a:rPr lang="en-US" sz="1400" dirty="0">
                <a:solidFill>
                  <a:schemeClr val="tx1"/>
                </a:solidFill>
              </a:rPr>
              <a:t>899 missing values in Customers</a:t>
            </a:r>
            <a:endParaRPr lang="en-US" sz="1400" dirty="0"/>
          </a:p>
        </p:txBody>
      </p:sp>
      <p:sp>
        <p:nvSpPr>
          <p:cNvPr id="8" name="Issue number 2"/>
          <p:cNvSpPr/>
          <p:nvPr/>
        </p:nvSpPr>
        <p:spPr>
          <a:xfrm>
            <a:off x="457200" y="2423160"/>
            <a:ext cx="411480" cy="411480"/>
          </a:xfrm>
          <a:prstGeom prst="ellipse">
            <a:avLst/>
          </a:prstGeom>
          <a:solidFill>
            <a:schemeClr val="accent3"/>
          </a:solidFill>
          <a:ln w="12700">
            <a:solidFill>
              <a:schemeClr val="accent3"/>
            </a:solidFill>
            <a:prstDash val="solid"/>
          </a:ln>
        </p:spPr>
      </p:sp>
      <p:sp>
        <p:nvSpPr>
          <p:cNvPr id="9" name="Text 6"/>
          <p:cNvSpPr txBox="1"/>
          <p:nvPr/>
        </p:nvSpPr>
        <p:spPr>
          <a:xfrm>
            <a:off x="457200" y="242316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Text 7"/>
          <p:cNvSpPr txBox="1"/>
          <p:nvPr/>
        </p:nvSpPr>
        <p:spPr>
          <a:xfrm>
            <a:off x="1051560" y="2377440"/>
            <a:ext cx="3474720" cy="548640"/>
          </a:xfrm>
          <a:prstGeom prst="rect">
            <a:avLst/>
          </a:prstGeom>
          <a:noFill/>
          <a:ln/>
        </p:spPr>
        <p:txBody>
          <a:bodyPr wrap="square" lIns="0" tIns="0" rIns="0" bIns="0" rtlCol="0" anchor="ctr"/>
          <a:lstStyle/>
          <a:p>
            <a:pPr indent="0" marL="0">
              <a:buNone/>
            </a:pPr>
            <a:r>
              <a:rPr lang="en-US" sz="1400" dirty="0">
                <a:solidFill>
                  <a:schemeClr val="tx1"/>
                </a:solidFill>
              </a:rPr>
              <a:t>Duplicate _x / _y columns after merging (orders, spend, AOV)</a:t>
            </a:r>
            <a:endParaRPr lang="en-US" sz="1400" dirty="0"/>
          </a:p>
        </p:txBody>
      </p:sp>
      <p:sp>
        <p:nvSpPr>
          <p:cNvPr id="11" name="Issue number 3"/>
          <p:cNvSpPr/>
          <p:nvPr/>
        </p:nvSpPr>
        <p:spPr>
          <a:xfrm>
            <a:off x="457200" y="3154680"/>
            <a:ext cx="411480" cy="411480"/>
          </a:xfrm>
          <a:prstGeom prst="ellipse">
            <a:avLst/>
          </a:prstGeom>
          <a:solidFill>
            <a:schemeClr val="accent3"/>
          </a:solidFill>
          <a:ln w="12700">
            <a:solidFill>
              <a:schemeClr val="accent3"/>
            </a:solidFill>
            <a:prstDash val="solid"/>
          </a:ln>
        </p:spPr>
      </p:sp>
      <p:sp>
        <p:nvSpPr>
          <p:cNvPr id="12" name="Text 9"/>
          <p:cNvSpPr txBox="1"/>
          <p:nvPr/>
        </p:nvSpPr>
        <p:spPr>
          <a:xfrm>
            <a:off x="457200" y="315468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3" name="Text 10"/>
          <p:cNvSpPr txBox="1"/>
          <p:nvPr/>
        </p:nvSpPr>
        <p:spPr>
          <a:xfrm>
            <a:off x="1051560" y="3108960"/>
            <a:ext cx="3474720" cy="548640"/>
          </a:xfrm>
          <a:prstGeom prst="rect">
            <a:avLst/>
          </a:prstGeom>
          <a:noFill/>
          <a:ln/>
        </p:spPr>
        <p:txBody>
          <a:bodyPr wrap="square" lIns="0" tIns="0" rIns="0" bIns="0" rtlCol="0" anchor="ctr"/>
          <a:lstStyle/>
          <a:p>
            <a:pPr indent="0" marL="0">
              <a:buNone/>
            </a:pPr>
            <a:r>
              <a:rPr lang="en-US" sz="1400" dirty="0">
                <a:solidFill>
                  <a:schemeClr val="tx1"/>
                </a:solidFill>
              </a:rPr>
              <a:t>Delivery file has no IDs, so it can't be joined to orders</a:t>
            </a:r>
            <a:endParaRPr lang="en-US" sz="1400" dirty="0"/>
          </a:p>
        </p:txBody>
      </p:sp>
      <p:sp>
        <p:nvSpPr>
          <p:cNvPr id="14" name="Issue number 4"/>
          <p:cNvSpPr/>
          <p:nvPr/>
        </p:nvSpPr>
        <p:spPr>
          <a:xfrm>
            <a:off x="457200" y="3886200"/>
            <a:ext cx="411480" cy="411480"/>
          </a:xfrm>
          <a:prstGeom prst="ellipse">
            <a:avLst/>
          </a:prstGeom>
          <a:solidFill>
            <a:schemeClr val="accent3"/>
          </a:solidFill>
          <a:ln w="12700">
            <a:solidFill>
              <a:schemeClr val="accent3"/>
            </a:solidFill>
            <a:prstDash val="solid"/>
          </a:ln>
        </p:spPr>
      </p:sp>
      <p:sp>
        <p:nvSpPr>
          <p:cNvPr id="15" name="Text 12"/>
          <p:cNvSpPr txBox="1"/>
          <p:nvPr/>
        </p:nvSpPr>
        <p:spPr>
          <a:xfrm>
            <a:off x="457200" y="38862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6" name="Text 13"/>
          <p:cNvSpPr txBox="1"/>
          <p:nvPr/>
        </p:nvSpPr>
        <p:spPr>
          <a:xfrm>
            <a:off x="1051560" y="3840480"/>
            <a:ext cx="3474720" cy="548640"/>
          </a:xfrm>
          <a:prstGeom prst="rect">
            <a:avLst/>
          </a:prstGeom>
          <a:noFill/>
          <a:ln/>
        </p:spPr>
        <p:txBody>
          <a:bodyPr wrap="square" lIns="0" tIns="0" rIns="0" bIns="0" rtlCol="0" anchor="ctr"/>
          <a:lstStyle/>
          <a:p>
            <a:pPr indent="0" marL="0">
              <a:buNone/>
            </a:pPr>
            <a:r>
              <a:rPr lang="en-US" sz="1400" dirty="0">
                <a:solidFill>
                  <a:schemeClr val="tx1"/>
                </a:solidFill>
              </a:rPr>
              <a:t>Delivery prediction error is exactly 0.0</a:t>
            </a:r>
            <a:endParaRPr lang="en-US" sz="1400" dirty="0"/>
          </a:p>
        </p:txBody>
      </p:sp>
      <p:sp>
        <p:nvSpPr>
          <p:cNvPr id="17" name="Actions panel"/>
          <p:cNvSpPr/>
          <p:nvPr/>
        </p:nvSpPr>
        <p:spPr>
          <a:xfrm>
            <a:off x="4846320" y="1188720"/>
            <a:ext cx="3840480" cy="3429000"/>
          </a:xfrm>
          <a:prstGeom prst="roundRect">
            <a:avLst>
              <a:gd name="adj" fmla="val 3200"/>
            </a:avLst>
          </a:prstGeom>
          <a:solidFill>
            <a:schemeClr val="accent6"/>
          </a:solidFill>
          <a:ln w="12700">
            <a:solidFill>
              <a:schemeClr val="accent6"/>
            </a:solidFill>
            <a:prstDash val="solid"/>
          </a:ln>
        </p:spPr>
      </p:sp>
      <p:sp>
        <p:nvSpPr>
          <p:cNvPr id="18" name="Icon circle broom"/>
          <p:cNvSpPr/>
          <p:nvPr/>
        </p:nvSpPr>
        <p:spPr>
          <a:xfrm>
            <a:off x="5074920" y="1417320"/>
            <a:ext cx="457200" cy="457200"/>
          </a:xfrm>
          <a:prstGeom prst="ellipse">
            <a:avLst/>
          </a:prstGeom>
          <a:solidFill>
            <a:schemeClr val="accent5"/>
          </a:solidFill>
          <a:ln w="12700">
            <a:solidFill>
              <a:schemeClr val="accent5"/>
            </a:solidFill>
            <a:prstDash val="solid"/>
          </a:ln>
        </p:spPr>
      </p:sp>
      <p:pic>
        <p:nvPicPr>
          <p:cNvPr id="19" name="Image 0" descr="broom icon">    </p:cNvPr>
          <p:cNvPicPr>
            <a:picLocks noChangeAspect="1"/>
          </p:cNvPicPr>
          <p:nvPr/>
        </p:nvPicPr>
        <p:blipFill>
          <a:blip r:embed="rId1"/>
          <a:stretch>
            <a:fillRect/>
          </a:stretch>
        </p:blipFill>
        <p:spPr>
          <a:xfrm>
            <a:off x="5189220" y="1531620"/>
            <a:ext cx="228600" cy="228600"/>
          </a:xfrm>
          <a:prstGeom prst="rect">
            <a:avLst/>
          </a:prstGeom>
        </p:spPr>
      </p:pic>
      <p:sp>
        <p:nvSpPr>
          <p:cNvPr id="20" name="Text 16"/>
          <p:cNvSpPr txBox="1"/>
          <p:nvPr/>
        </p:nvSpPr>
        <p:spPr>
          <a:xfrm>
            <a:off x="5715000" y="1417320"/>
            <a:ext cx="2743200" cy="457200"/>
          </a:xfrm>
          <a:prstGeom prst="rect">
            <a:avLst/>
          </a:prstGeom>
          <a:noFill/>
          <a:ln/>
        </p:spPr>
        <p:txBody>
          <a:bodyPr wrap="square" lIns="0" tIns="0" rIns="0" bIns="0" rtlCol="0" anchor="ctr"/>
          <a:lstStyle/>
          <a:p>
            <a:pPr indent="0" marL="0">
              <a:buNone/>
            </a:pPr>
            <a:r>
              <a:rPr lang="en-US" sz="2000" b="1" dirty="0">
                <a:solidFill>
                  <a:schemeClr val="tx1"/>
                </a:solidFill>
              </a:rPr>
              <a:t>What we did</a:t>
            </a:r>
            <a:endParaRPr lang="en-US" sz="2000" dirty="0"/>
          </a:p>
        </p:txBody>
      </p:sp>
      <p:sp>
        <p:nvSpPr>
          <p:cNvPr id="21" name="Text 17"/>
          <p:cNvSpPr txBox="1"/>
          <p:nvPr/>
        </p:nvSpPr>
        <p:spPr>
          <a:xfrm>
            <a:off x="5074920" y="2103120"/>
            <a:ext cx="3383280" cy="23774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Handled missing values column by column</a:t>
            </a:r>
            <a:endParaRPr lang="en-US" sz="1400" dirty="0"/>
          </a:p>
          <a:p>
            <a:pPr marL="342900" indent="-342900">
              <a:spcAft>
                <a:spcPts val="800"/>
              </a:spcAft>
              <a:buSzPct val="100000"/>
              <a:buChar char="•"/>
            </a:pPr>
            <a:r>
              <a:rPr lang="en-US" sz="1400" dirty="0">
                <a:solidFill>
                  <a:schemeClr val="tx1"/>
                </a:solidFill>
              </a:rPr>
              <a:t>Consolidated duplicates into total_spending and average_order_value</a:t>
            </a:r>
            <a:endParaRPr lang="en-US" sz="1400" dirty="0"/>
          </a:p>
          <a:p>
            <a:pPr marL="342900" indent="-342900">
              <a:spcAft>
                <a:spcPts val="800"/>
              </a:spcAft>
              <a:buSzPct val="100000"/>
              <a:buChar char="•"/>
            </a:pPr>
            <a:r>
              <a:rPr lang="en-US" sz="1400" dirty="0">
                <a:solidFill>
                  <a:schemeClr val="tx1"/>
                </a:solidFill>
              </a:rPr>
              <a:t>Cleaned review text into cleaned_review</a:t>
            </a:r>
            <a:endParaRPr lang="en-US" sz="1400" dirty="0"/>
          </a:p>
          <a:p>
            <a:pPr marL="342900" indent="-342900">
              <a:spcAft>
                <a:spcPts val="800"/>
              </a:spcAft>
              <a:buSzPct val="100000"/>
              <a:buChar char="•"/>
            </a:pPr>
            <a:r>
              <a:rPr lang="en-US" sz="1400" dirty="0">
                <a:solidFill>
                  <a:schemeClr val="tx1"/>
                </a:solidFill>
              </a:rPr>
              <a:t>Flagged the zero delivery error for validation</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Customer Segmentation</a:t>
            </a:r>
            <a:endParaRPr lang="en-US" sz="3200" dirty="0"/>
          </a:p>
        </p:txBody>
      </p:sp>
      <p:sp>
        <p:nvSpPr>
          <p:cNvPr id="4" name="Method card K-Means"/>
          <p:cNvSpPr/>
          <p:nvPr/>
        </p:nvSpPr>
        <p:spPr>
          <a:xfrm>
            <a:off x="457200" y="1188720"/>
            <a:ext cx="2560320" cy="2423160"/>
          </a:xfrm>
          <a:prstGeom prst="roundRect">
            <a:avLst>
              <a:gd name="adj" fmla="val 4528"/>
            </a:avLst>
          </a:prstGeom>
          <a:solidFill>
            <a:schemeClr val="bg2"/>
          </a:solidFill>
          <a:ln w="12700">
            <a:solidFill>
              <a:schemeClr val="bg2"/>
            </a:solidFill>
            <a:prstDash val="solid"/>
          </a:ln>
        </p:spPr>
      </p:sp>
      <p:sp>
        <p:nvSpPr>
          <p:cNvPr id="5" name="Icon circle cluster"/>
          <p:cNvSpPr/>
          <p:nvPr/>
        </p:nvSpPr>
        <p:spPr>
          <a:xfrm>
            <a:off x="685800" y="1371600"/>
            <a:ext cx="502920" cy="502920"/>
          </a:xfrm>
          <a:prstGeom prst="ellipse">
            <a:avLst/>
          </a:prstGeom>
          <a:solidFill>
            <a:schemeClr val="accent1"/>
          </a:solidFill>
          <a:ln w="12700">
            <a:solidFill>
              <a:schemeClr val="accent1"/>
            </a:solidFill>
            <a:prstDash val="solid"/>
          </a:ln>
        </p:spPr>
      </p:sp>
      <p:pic>
        <p:nvPicPr>
          <p:cNvPr id="6" name="Image 0" descr="cluster icon">    </p:cNvPr>
          <p:cNvPicPr>
            <a:picLocks noChangeAspect="1"/>
          </p:cNvPicPr>
          <p:nvPr/>
        </p:nvPicPr>
        <p:blipFill>
          <a:blip r:embed="rId1"/>
          <a:stretch>
            <a:fillRect/>
          </a:stretch>
        </p:blipFill>
        <p:spPr>
          <a:xfrm>
            <a:off x="811530" y="1497330"/>
            <a:ext cx="251460" cy="251460"/>
          </a:xfrm>
          <a:prstGeom prst="rect">
            <a:avLst/>
          </a:prstGeom>
        </p:spPr>
      </p:pic>
      <p:sp>
        <p:nvSpPr>
          <p:cNvPr id="7" name="Text 3"/>
          <p:cNvSpPr txBox="1"/>
          <p:nvPr/>
        </p:nvSpPr>
        <p:spPr>
          <a:xfrm>
            <a:off x="685800" y="2011680"/>
            <a:ext cx="2103120" cy="365760"/>
          </a:xfrm>
          <a:prstGeom prst="rect">
            <a:avLst/>
          </a:prstGeom>
          <a:noFill/>
          <a:ln/>
        </p:spPr>
        <p:txBody>
          <a:bodyPr wrap="square" lIns="0" tIns="0" rIns="0" bIns="0" rtlCol="0" anchor="t"/>
          <a:lstStyle/>
          <a:p>
            <a:pPr indent="0" marL="0">
              <a:buNone/>
            </a:pPr>
            <a:r>
              <a:rPr lang="en-US" sz="2000" b="1" dirty="0">
                <a:solidFill>
                  <a:schemeClr val="tx1"/>
                </a:solidFill>
              </a:rPr>
              <a:t>K-Means</a:t>
            </a:r>
            <a:endParaRPr lang="en-US" sz="2000" dirty="0"/>
          </a:p>
        </p:txBody>
      </p:sp>
      <p:sp>
        <p:nvSpPr>
          <p:cNvPr id="8" name="Text 4"/>
          <p:cNvSpPr txBox="1"/>
          <p:nvPr/>
        </p:nvSpPr>
        <p:spPr>
          <a:xfrm>
            <a:off x="685800" y="2468880"/>
            <a:ext cx="2148840" cy="1097280"/>
          </a:xfrm>
          <a:prstGeom prst="rect">
            <a:avLst/>
          </a:prstGeom>
          <a:noFill/>
          <a:ln/>
        </p:spPr>
        <p:txBody>
          <a:bodyPr wrap="square" lIns="0" tIns="0" rIns="0" bIns="0" rtlCol="0" anchor="t"/>
          <a:lstStyle/>
          <a:p>
            <a:pPr indent="0" marL="0">
              <a:buNone/>
            </a:pPr>
            <a:r>
              <a:rPr lang="en-US" sz="1400" dirty="0">
                <a:solidFill>
                  <a:schemeClr val="tx1"/>
                </a:solidFill>
              </a:rPr>
              <a:t>Splits customers into k groups. k chosen using elbow and silhouette scores.</a:t>
            </a:r>
            <a:endParaRPr lang="en-US" sz="1400" dirty="0"/>
          </a:p>
        </p:txBody>
      </p:sp>
      <p:sp>
        <p:nvSpPr>
          <p:cNvPr id="9" name="Method card DBSCAN"/>
          <p:cNvSpPr/>
          <p:nvPr/>
        </p:nvSpPr>
        <p:spPr>
          <a:xfrm>
            <a:off x="3291840" y="1188720"/>
            <a:ext cx="2560320" cy="2423160"/>
          </a:xfrm>
          <a:prstGeom prst="roundRect">
            <a:avLst>
              <a:gd name="adj" fmla="val 4528"/>
            </a:avLst>
          </a:prstGeom>
          <a:solidFill>
            <a:schemeClr val="bg2"/>
          </a:solidFill>
          <a:ln w="12700">
            <a:solidFill>
              <a:schemeClr val="bg2"/>
            </a:solidFill>
            <a:prstDash val="solid"/>
          </a:ln>
        </p:spPr>
      </p:sp>
      <p:sp>
        <p:nvSpPr>
          <p:cNvPr id="10" name="Icon circle density"/>
          <p:cNvSpPr/>
          <p:nvPr/>
        </p:nvSpPr>
        <p:spPr>
          <a:xfrm>
            <a:off x="3520440" y="1371600"/>
            <a:ext cx="502920" cy="502920"/>
          </a:xfrm>
          <a:prstGeom prst="ellipse">
            <a:avLst/>
          </a:prstGeom>
          <a:solidFill>
            <a:schemeClr val="accent1"/>
          </a:solidFill>
          <a:ln w="12700">
            <a:solidFill>
              <a:schemeClr val="accent1"/>
            </a:solidFill>
            <a:prstDash val="solid"/>
          </a:ln>
        </p:spPr>
      </p:sp>
      <p:pic>
        <p:nvPicPr>
          <p:cNvPr id="11" name="Image 1" descr="density icon">    </p:cNvPr>
          <p:cNvPicPr>
            <a:picLocks noChangeAspect="1"/>
          </p:cNvPicPr>
          <p:nvPr/>
        </p:nvPicPr>
        <p:blipFill>
          <a:blip r:embed="rId2"/>
          <a:stretch>
            <a:fillRect/>
          </a:stretch>
        </p:blipFill>
        <p:spPr>
          <a:xfrm>
            <a:off x="3646170" y="1497330"/>
            <a:ext cx="251460" cy="251460"/>
          </a:xfrm>
          <a:prstGeom prst="rect">
            <a:avLst/>
          </a:prstGeom>
        </p:spPr>
      </p:pic>
      <p:sp>
        <p:nvSpPr>
          <p:cNvPr id="12" name="Text 7"/>
          <p:cNvSpPr txBox="1"/>
          <p:nvPr/>
        </p:nvSpPr>
        <p:spPr>
          <a:xfrm>
            <a:off x="3520440" y="2011680"/>
            <a:ext cx="2103120" cy="365760"/>
          </a:xfrm>
          <a:prstGeom prst="rect">
            <a:avLst/>
          </a:prstGeom>
          <a:noFill/>
          <a:ln/>
        </p:spPr>
        <p:txBody>
          <a:bodyPr wrap="square" lIns="0" tIns="0" rIns="0" bIns="0" rtlCol="0" anchor="t"/>
          <a:lstStyle/>
          <a:p>
            <a:pPr indent="0" marL="0">
              <a:buNone/>
            </a:pPr>
            <a:r>
              <a:rPr lang="en-US" sz="2000" b="1" dirty="0">
                <a:solidFill>
                  <a:schemeClr val="tx1"/>
                </a:solidFill>
              </a:rPr>
              <a:t>DBSCAN</a:t>
            </a:r>
            <a:endParaRPr lang="en-US" sz="2000" dirty="0"/>
          </a:p>
        </p:txBody>
      </p:sp>
      <p:sp>
        <p:nvSpPr>
          <p:cNvPr id="13" name="Text 8"/>
          <p:cNvSpPr txBox="1"/>
          <p:nvPr/>
        </p:nvSpPr>
        <p:spPr>
          <a:xfrm>
            <a:off x="3520440" y="2468880"/>
            <a:ext cx="2148840" cy="1097280"/>
          </a:xfrm>
          <a:prstGeom prst="rect">
            <a:avLst/>
          </a:prstGeom>
          <a:noFill/>
          <a:ln/>
        </p:spPr>
        <p:txBody>
          <a:bodyPr wrap="square" lIns="0" tIns="0" rIns="0" bIns="0" rtlCol="0" anchor="t"/>
          <a:lstStyle/>
          <a:p>
            <a:pPr indent="0" marL="0">
              <a:buNone/>
            </a:pPr>
            <a:r>
              <a:rPr lang="en-US" sz="1400" dirty="0">
                <a:solidFill>
                  <a:schemeClr val="tx1"/>
                </a:solidFill>
              </a:rPr>
              <a:t>Finds dense groups and labels unusual customers as noise (-1).</a:t>
            </a:r>
            <a:endParaRPr lang="en-US" sz="1400" dirty="0"/>
          </a:p>
        </p:txBody>
      </p:sp>
      <p:sp>
        <p:nvSpPr>
          <p:cNvPr id="14" name="Method card PCA"/>
          <p:cNvSpPr/>
          <p:nvPr/>
        </p:nvSpPr>
        <p:spPr>
          <a:xfrm>
            <a:off x="6126480" y="1188720"/>
            <a:ext cx="2560320" cy="2423160"/>
          </a:xfrm>
          <a:prstGeom prst="roundRect">
            <a:avLst>
              <a:gd name="adj" fmla="val 4528"/>
            </a:avLst>
          </a:prstGeom>
          <a:solidFill>
            <a:schemeClr val="bg2"/>
          </a:solidFill>
          <a:ln w="12700">
            <a:solidFill>
              <a:schemeClr val="bg2"/>
            </a:solidFill>
            <a:prstDash val="solid"/>
          </a:ln>
        </p:spPr>
      </p:sp>
      <p:sp>
        <p:nvSpPr>
          <p:cNvPr id="15" name="Icon circle compress"/>
          <p:cNvSpPr/>
          <p:nvPr/>
        </p:nvSpPr>
        <p:spPr>
          <a:xfrm>
            <a:off x="6355080" y="1371600"/>
            <a:ext cx="502920" cy="502920"/>
          </a:xfrm>
          <a:prstGeom prst="ellipse">
            <a:avLst/>
          </a:prstGeom>
          <a:solidFill>
            <a:schemeClr val="accent1"/>
          </a:solidFill>
          <a:ln w="12700">
            <a:solidFill>
              <a:schemeClr val="accent1"/>
            </a:solidFill>
            <a:prstDash val="solid"/>
          </a:ln>
        </p:spPr>
      </p:sp>
      <p:pic>
        <p:nvPicPr>
          <p:cNvPr id="16" name="Image 2" descr="compress icon">    </p:cNvPr>
          <p:cNvPicPr>
            <a:picLocks noChangeAspect="1"/>
          </p:cNvPicPr>
          <p:nvPr/>
        </p:nvPicPr>
        <p:blipFill>
          <a:blip r:embed="rId3"/>
          <a:stretch>
            <a:fillRect/>
          </a:stretch>
        </p:blipFill>
        <p:spPr>
          <a:xfrm>
            <a:off x="6480810" y="1497330"/>
            <a:ext cx="251460" cy="251460"/>
          </a:xfrm>
          <a:prstGeom prst="rect">
            <a:avLst/>
          </a:prstGeom>
        </p:spPr>
      </p:pic>
      <p:sp>
        <p:nvSpPr>
          <p:cNvPr id="17" name="Text 11"/>
          <p:cNvSpPr txBox="1"/>
          <p:nvPr/>
        </p:nvSpPr>
        <p:spPr>
          <a:xfrm>
            <a:off x="6355080" y="2011680"/>
            <a:ext cx="2103120" cy="365760"/>
          </a:xfrm>
          <a:prstGeom prst="rect">
            <a:avLst/>
          </a:prstGeom>
          <a:noFill/>
          <a:ln/>
        </p:spPr>
        <p:txBody>
          <a:bodyPr wrap="square" lIns="0" tIns="0" rIns="0" bIns="0" rtlCol="0" anchor="t"/>
          <a:lstStyle/>
          <a:p>
            <a:pPr indent="0" marL="0">
              <a:buNone/>
            </a:pPr>
            <a:r>
              <a:rPr lang="en-US" sz="2000" b="1" dirty="0">
                <a:solidFill>
                  <a:schemeClr val="tx1"/>
                </a:solidFill>
              </a:rPr>
              <a:t>PCA</a:t>
            </a:r>
            <a:endParaRPr lang="en-US" sz="2000" dirty="0"/>
          </a:p>
        </p:txBody>
      </p:sp>
      <p:sp>
        <p:nvSpPr>
          <p:cNvPr id="18" name="Text 12"/>
          <p:cNvSpPr txBox="1"/>
          <p:nvPr/>
        </p:nvSpPr>
        <p:spPr>
          <a:xfrm>
            <a:off x="6355080" y="2468880"/>
            <a:ext cx="2148840" cy="1097280"/>
          </a:xfrm>
          <a:prstGeom prst="rect">
            <a:avLst/>
          </a:prstGeom>
          <a:noFill/>
          <a:ln/>
        </p:spPr>
        <p:txBody>
          <a:bodyPr wrap="square" lIns="0" tIns="0" rIns="0" bIns="0" rtlCol="0" anchor="t"/>
          <a:lstStyle/>
          <a:p>
            <a:pPr indent="0" marL="0">
              <a:buNone/>
            </a:pPr>
            <a:r>
              <a:rPr lang="en-US" sz="1400" dirty="0">
                <a:solidFill>
                  <a:schemeClr val="tx1"/>
                </a:solidFill>
              </a:rPr>
              <a:t>Squeezes many features into 2 components so clusters can be plotted.</a:t>
            </a:r>
            <a:endParaRPr lang="en-US" sz="1400" dirty="0"/>
          </a:p>
        </p:txBody>
      </p:sp>
      <p:sp>
        <p:nvSpPr>
          <p:cNvPr id="19" name="Output banner"/>
          <p:cNvSpPr/>
          <p:nvPr/>
        </p:nvSpPr>
        <p:spPr>
          <a:xfrm>
            <a:off x="457200" y="3840480"/>
            <a:ext cx="8229600" cy="731520"/>
          </a:xfrm>
          <a:prstGeom prst="roundRect">
            <a:avLst>
              <a:gd name="adj" fmla="val 15000"/>
            </a:avLst>
          </a:prstGeom>
          <a:solidFill>
            <a:schemeClr val="tx1"/>
          </a:solidFill>
          <a:ln w="12700">
            <a:solidFill>
              <a:schemeClr val="tx1"/>
            </a:solidFill>
            <a:prstDash val="solid"/>
          </a:ln>
        </p:spPr>
      </p:sp>
      <p:sp>
        <p:nvSpPr>
          <p:cNvPr id="20" name="Text 14"/>
          <p:cNvSpPr txBox="1"/>
          <p:nvPr/>
        </p:nvSpPr>
        <p:spPr>
          <a:xfrm>
            <a:off x="685800" y="3840480"/>
            <a:ext cx="7772400" cy="731520"/>
          </a:xfrm>
          <a:prstGeom prst="rect">
            <a:avLst/>
          </a:prstGeom>
          <a:noFill/>
          <a:ln/>
        </p:spPr>
        <p:txBody>
          <a:bodyPr wrap="square" lIns="0" tIns="0" rIns="0" bIns="0" rtlCol="0" anchor="ctr"/>
          <a:lstStyle/>
          <a:p>
            <a:pPr indent="0" marL="0">
              <a:buNone/>
            </a:pPr>
            <a:r>
              <a:rPr lang="en-US" sz="1400" b="1" dirty="0">
                <a:solidFill>
                  <a:schemeClr val="accent1"/>
                </a:solidFill>
              </a:rPr>
              <a:t>Columns produced:  </a:t>
            </a:r>
            <a:pPr indent="0" marL="0">
              <a:buNone/>
            </a:pPr>
            <a:r>
              <a:rPr lang="en-US" sz="1400" dirty="0">
                <a:solidFill>
                  <a:schemeClr val="bg1"/>
                </a:solidFill>
              </a:rPr>
              <a:t>kmeans_segment · dbscan_segment · customer_segment · business_segment</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Interpreting the Clusters</a:t>
            </a:r>
            <a:endParaRPr lang="en-US" sz="3200" dirty="0"/>
          </a:p>
        </p:txBody>
      </p:sp>
      <p:sp>
        <p:nvSpPr>
          <p:cNvPr id="4" name="Text 1"/>
          <p:cNvSpPr txBox="1"/>
          <p:nvPr/>
        </p:nvSpPr>
        <p:spPr>
          <a:xfrm>
            <a:off x="457200" y="1188720"/>
            <a:ext cx="3840480" cy="365760"/>
          </a:xfrm>
          <a:prstGeom prst="rect">
            <a:avLst/>
          </a:prstGeom>
          <a:noFill/>
          <a:ln/>
        </p:spPr>
        <p:txBody>
          <a:bodyPr wrap="square" lIns="0" tIns="0" rIns="0" bIns="0" rtlCol="0" anchor="t"/>
          <a:lstStyle/>
          <a:p>
            <a:pPr indent="0" marL="0">
              <a:buNone/>
            </a:pPr>
            <a:r>
              <a:rPr lang="en-US" sz="2000" b="1" dirty="0">
                <a:solidFill>
                  <a:schemeClr val="tx1"/>
                </a:solidFill>
              </a:rPr>
              <a:t>Profile every cluster on</a:t>
            </a:r>
            <a:endParaRPr lang="en-US" sz="2000" dirty="0"/>
          </a:p>
        </p:txBody>
      </p:sp>
      <p:sp>
        <p:nvSpPr>
          <p:cNvPr id="5" name="Feature chip total_spending"/>
          <p:cNvSpPr/>
          <p:nvPr/>
        </p:nvSpPr>
        <p:spPr>
          <a:xfrm>
            <a:off x="457200" y="1737360"/>
            <a:ext cx="1828800" cy="457200"/>
          </a:xfrm>
          <a:prstGeom prst="roundRect">
            <a:avLst>
              <a:gd name="adj" fmla="val 50000"/>
            </a:avLst>
          </a:prstGeom>
          <a:solidFill>
            <a:schemeClr val="accent6"/>
          </a:solidFill>
          <a:ln w="12700">
            <a:solidFill>
              <a:schemeClr val="accent6"/>
            </a:solidFill>
            <a:prstDash val="solid"/>
          </a:ln>
        </p:spPr>
      </p:sp>
      <p:sp>
        <p:nvSpPr>
          <p:cNvPr id="6" name="Text 3"/>
          <p:cNvSpPr txBox="1"/>
          <p:nvPr/>
        </p:nvSpPr>
        <p:spPr>
          <a:xfrm>
            <a:off x="457200" y="1737360"/>
            <a:ext cx="1828800" cy="457200"/>
          </a:xfrm>
          <a:prstGeom prst="rect">
            <a:avLst/>
          </a:prstGeom>
          <a:noFill/>
          <a:ln/>
        </p:spPr>
        <p:txBody>
          <a:bodyPr wrap="square" lIns="0" tIns="0" rIns="0" bIns="0" rtlCol="0" anchor="ctr"/>
          <a:lstStyle/>
          <a:p>
            <a:pPr algn="ctr" indent="0" marL="0">
              <a:buNone/>
            </a:pPr>
            <a:r>
              <a:rPr lang="en-US" sz="1200" b="1" dirty="0">
                <a:solidFill>
                  <a:schemeClr val="accent5"/>
                </a:solidFill>
              </a:rPr>
              <a:t>total_spending</a:t>
            </a:r>
            <a:endParaRPr lang="en-US" sz="1200" dirty="0"/>
          </a:p>
        </p:txBody>
      </p:sp>
      <p:sp>
        <p:nvSpPr>
          <p:cNvPr id="7" name="Feature chip average_order_value"/>
          <p:cNvSpPr/>
          <p:nvPr/>
        </p:nvSpPr>
        <p:spPr>
          <a:xfrm>
            <a:off x="2423160" y="1737360"/>
            <a:ext cx="1828800" cy="457200"/>
          </a:xfrm>
          <a:prstGeom prst="roundRect">
            <a:avLst>
              <a:gd name="adj" fmla="val 50000"/>
            </a:avLst>
          </a:prstGeom>
          <a:solidFill>
            <a:schemeClr val="accent6"/>
          </a:solidFill>
          <a:ln w="12700">
            <a:solidFill>
              <a:schemeClr val="accent6"/>
            </a:solidFill>
            <a:prstDash val="solid"/>
          </a:ln>
        </p:spPr>
      </p:sp>
      <p:sp>
        <p:nvSpPr>
          <p:cNvPr id="8" name="Text 5"/>
          <p:cNvSpPr txBox="1"/>
          <p:nvPr/>
        </p:nvSpPr>
        <p:spPr>
          <a:xfrm>
            <a:off x="2423160" y="1737360"/>
            <a:ext cx="1828800" cy="457200"/>
          </a:xfrm>
          <a:prstGeom prst="rect">
            <a:avLst/>
          </a:prstGeom>
          <a:noFill/>
          <a:ln/>
        </p:spPr>
        <p:txBody>
          <a:bodyPr wrap="square" lIns="0" tIns="0" rIns="0" bIns="0" rtlCol="0" anchor="ctr"/>
          <a:lstStyle/>
          <a:p>
            <a:pPr algn="ctr" indent="0" marL="0">
              <a:buNone/>
            </a:pPr>
            <a:r>
              <a:rPr lang="en-US" sz="1200" b="1" dirty="0">
                <a:solidFill>
                  <a:schemeClr val="accent5"/>
                </a:solidFill>
              </a:rPr>
              <a:t>average_order_value</a:t>
            </a:r>
            <a:endParaRPr lang="en-US" sz="1200" dirty="0"/>
          </a:p>
        </p:txBody>
      </p:sp>
      <p:sp>
        <p:nvSpPr>
          <p:cNvPr id="9" name="Feature chip ordering_frequency"/>
          <p:cNvSpPr/>
          <p:nvPr/>
        </p:nvSpPr>
        <p:spPr>
          <a:xfrm>
            <a:off x="457200" y="2377440"/>
            <a:ext cx="1828800" cy="457200"/>
          </a:xfrm>
          <a:prstGeom prst="roundRect">
            <a:avLst>
              <a:gd name="adj" fmla="val 50000"/>
            </a:avLst>
          </a:prstGeom>
          <a:solidFill>
            <a:schemeClr val="accent6"/>
          </a:solidFill>
          <a:ln w="12700">
            <a:solidFill>
              <a:schemeClr val="accent6"/>
            </a:solidFill>
            <a:prstDash val="solid"/>
          </a:ln>
        </p:spPr>
      </p:sp>
      <p:sp>
        <p:nvSpPr>
          <p:cNvPr id="10" name="Text 7"/>
          <p:cNvSpPr txBox="1"/>
          <p:nvPr/>
        </p:nvSpPr>
        <p:spPr>
          <a:xfrm>
            <a:off x="457200" y="2377440"/>
            <a:ext cx="1828800" cy="457200"/>
          </a:xfrm>
          <a:prstGeom prst="rect">
            <a:avLst/>
          </a:prstGeom>
          <a:noFill/>
          <a:ln/>
        </p:spPr>
        <p:txBody>
          <a:bodyPr wrap="square" lIns="0" tIns="0" rIns="0" bIns="0" rtlCol="0" anchor="ctr"/>
          <a:lstStyle/>
          <a:p>
            <a:pPr algn="ctr" indent="0" marL="0">
              <a:buNone/>
            </a:pPr>
            <a:r>
              <a:rPr lang="en-US" sz="1200" b="1" dirty="0">
                <a:solidFill>
                  <a:schemeClr val="accent5"/>
                </a:solidFill>
              </a:rPr>
              <a:t>ordering_frequency</a:t>
            </a:r>
            <a:endParaRPr lang="en-US" sz="1200" dirty="0"/>
          </a:p>
        </p:txBody>
      </p:sp>
      <p:sp>
        <p:nvSpPr>
          <p:cNvPr id="11" name="Feature chip weekend_orders"/>
          <p:cNvSpPr/>
          <p:nvPr/>
        </p:nvSpPr>
        <p:spPr>
          <a:xfrm>
            <a:off x="2423160" y="2377440"/>
            <a:ext cx="1828800" cy="457200"/>
          </a:xfrm>
          <a:prstGeom prst="roundRect">
            <a:avLst>
              <a:gd name="adj" fmla="val 50000"/>
            </a:avLst>
          </a:prstGeom>
          <a:solidFill>
            <a:schemeClr val="accent6"/>
          </a:solidFill>
          <a:ln w="12700">
            <a:solidFill>
              <a:schemeClr val="accent6"/>
            </a:solidFill>
            <a:prstDash val="solid"/>
          </a:ln>
        </p:spPr>
      </p:sp>
      <p:sp>
        <p:nvSpPr>
          <p:cNvPr id="12" name="Text 9"/>
          <p:cNvSpPr txBox="1"/>
          <p:nvPr/>
        </p:nvSpPr>
        <p:spPr>
          <a:xfrm>
            <a:off x="2423160" y="2377440"/>
            <a:ext cx="1828800" cy="457200"/>
          </a:xfrm>
          <a:prstGeom prst="rect">
            <a:avLst/>
          </a:prstGeom>
          <a:noFill/>
          <a:ln/>
        </p:spPr>
        <p:txBody>
          <a:bodyPr wrap="square" lIns="0" tIns="0" rIns="0" bIns="0" rtlCol="0" anchor="ctr"/>
          <a:lstStyle/>
          <a:p>
            <a:pPr algn="ctr" indent="0" marL="0">
              <a:buNone/>
            </a:pPr>
            <a:r>
              <a:rPr lang="en-US" sz="1200" b="1" dirty="0">
                <a:solidFill>
                  <a:schemeClr val="accent5"/>
                </a:solidFill>
              </a:rPr>
              <a:t>weekend_orders</a:t>
            </a:r>
            <a:endParaRPr lang="en-US" sz="1200" dirty="0"/>
          </a:p>
        </p:txBody>
      </p:sp>
      <p:sp>
        <p:nvSpPr>
          <p:cNvPr id="13" name="Feature chip late_night_orders"/>
          <p:cNvSpPr/>
          <p:nvPr/>
        </p:nvSpPr>
        <p:spPr>
          <a:xfrm>
            <a:off x="457200" y="3017520"/>
            <a:ext cx="1828800" cy="457200"/>
          </a:xfrm>
          <a:prstGeom prst="roundRect">
            <a:avLst>
              <a:gd name="adj" fmla="val 50000"/>
            </a:avLst>
          </a:prstGeom>
          <a:solidFill>
            <a:schemeClr val="accent6"/>
          </a:solidFill>
          <a:ln w="12700">
            <a:solidFill>
              <a:schemeClr val="accent6"/>
            </a:solidFill>
            <a:prstDash val="solid"/>
          </a:ln>
        </p:spPr>
      </p:sp>
      <p:sp>
        <p:nvSpPr>
          <p:cNvPr id="14" name="Text 11"/>
          <p:cNvSpPr txBox="1"/>
          <p:nvPr/>
        </p:nvSpPr>
        <p:spPr>
          <a:xfrm>
            <a:off x="457200" y="3017520"/>
            <a:ext cx="1828800" cy="457200"/>
          </a:xfrm>
          <a:prstGeom prst="rect">
            <a:avLst/>
          </a:prstGeom>
          <a:noFill/>
          <a:ln/>
        </p:spPr>
        <p:txBody>
          <a:bodyPr wrap="square" lIns="0" tIns="0" rIns="0" bIns="0" rtlCol="0" anchor="ctr"/>
          <a:lstStyle/>
          <a:p>
            <a:pPr algn="ctr" indent="0" marL="0">
              <a:buNone/>
            </a:pPr>
            <a:r>
              <a:rPr lang="en-US" sz="1200" b="1" dirty="0">
                <a:solidFill>
                  <a:schemeClr val="accent5"/>
                </a:solidFill>
              </a:rPr>
              <a:t>late_night_orders</a:t>
            </a:r>
            <a:endParaRPr lang="en-US" sz="1200" dirty="0"/>
          </a:p>
        </p:txBody>
      </p:sp>
      <p:sp>
        <p:nvSpPr>
          <p:cNvPr id="15" name="Feature chip membership_tier"/>
          <p:cNvSpPr/>
          <p:nvPr/>
        </p:nvSpPr>
        <p:spPr>
          <a:xfrm>
            <a:off x="2423160" y="3017520"/>
            <a:ext cx="1828800" cy="457200"/>
          </a:xfrm>
          <a:prstGeom prst="roundRect">
            <a:avLst>
              <a:gd name="adj" fmla="val 50000"/>
            </a:avLst>
          </a:prstGeom>
          <a:solidFill>
            <a:schemeClr val="accent6"/>
          </a:solidFill>
          <a:ln w="12700">
            <a:solidFill>
              <a:schemeClr val="accent6"/>
            </a:solidFill>
            <a:prstDash val="solid"/>
          </a:ln>
        </p:spPr>
      </p:sp>
      <p:sp>
        <p:nvSpPr>
          <p:cNvPr id="16" name="Text 13"/>
          <p:cNvSpPr txBox="1"/>
          <p:nvPr/>
        </p:nvSpPr>
        <p:spPr>
          <a:xfrm>
            <a:off x="2423160" y="3017520"/>
            <a:ext cx="1828800" cy="457200"/>
          </a:xfrm>
          <a:prstGeom prst="rect">
            <a:avLst/>
          </a:prstGeom>
          <a:noFill/>
          <a:ln/>
        </p:spPr>
        <p:txBody>
          <a:bodyPr wrap="square" lIns="0" tIns="0" rIns="0" bIns="0" rtlCol="0" anchor="ctr"/>
          <a:lstStyle/>
          <a:p>
            <a:pPr algn="ctr" indent="0" marL="0">
              <a:buNone/>
            </a:pPr>
            <a:r>
              <a:rPr lang="en-US" sz="1200" b="1" dirty="0">
                <a:solidFill>
                  <a:schemeClr val="accent5"/>
                </a:solidFill>
              </a:rPr>
              <a:t>membership_tier</a:t>
            </a:r>
            <a:endParaRPr lang="en-US" sz="1200" dirty="0"/>
          </a:p>
        </p:txBody>
      </p:sp>
      <p:sp>
        <p:nvSpPr>
          <p:cNvPr id="17" name="Feature chip preferred_cuisine"/>
          <p:cNvSpPr/>
          <p:nvPr/>
        </p:nvSpPr>
        <p:spPr>
          <a:xfrm>
            <a:off x="457200" y="3657600"/>
            <a:ext cx="1828800" cy="457200"/>
          </a:xfrm>
          <a:prstGeom prst="roundRect">
            <a:avLst>
              <a:gd name="adj" fmla="val 50000"/>
            </a:avLst>
          </a:prstGeom>
          <a:solidFill>
            <a:schemeClr val="accent6"/>
          </a:solidFill>
          <a:ln w="12700">
            <a:solidFill>
              <a:schemeClr val="accent6"/>
            </a:solidFill>
            <a:prstDash val="solid"/>
          </a:ln>
        </p:spPr>
      </p:sp>
      <p:sp>
        <p:nvSpPr>
          <p:cNvPr id="18" name="Text 15"/>
          <p:cNvSpPr txBox="1"/>
          <p:nvPr/>
        </p:nvSpPr>
        <p:spPr>
          <a:xfrm>
            <a:off x="457200" y="3657600"/>
            <a:ext cx="1828800" cy="457200"/>
          </a:xfrm>
          <a:prstGeom prst="rect">
            <a:avLst/>
          </a:prstGeom>
          <a:noFill/>
          <a:ln/>
        </p:spPr>
        <p:txBody>
          <a:bodyPr wrap="square" lIns="0" tIns="0" rIns="0" bIns="0" rtlCol="0" anchor="ctr"/>
          <a:lstStyle/>
          <a:p>
            <a:pPr algn="ctr" indent="0" marL="0">
              <a:buNone/>
            </a:pPr>
            <a:r>
              <a:rPr lang="en-US" sz="1200" b="1" dirty="0">
                <a:solidFill>
                  <a:schemeClr val="accent5"/>
                </a:solidFill>
              </a:rPr>
              <a:t>preferred_cuisine</a:t>
            </a:r>
            <a:endParaRPr lang="en-US" sz="1200" dirty="0"/>
          </a:p>
        </p:txBody>
      </p:sp>
      <p:sp>
        <p:nvSpPr>
          <p:cNvPr id="19" name="Text 16"/>
          <p:cNvSpPr txBox="1"/>
          <p:nvPr/>
        </p:nvSpPr>
        <p:spPr>
          <a:xfrm>
            <a:off x="4846320" y="1188720"/>
            <a:ext cx="3840480" cy="365760"/>
          </a:xfrm>
          <a:prstGeom prst="rect">
            <a:avLst/>
          </a:prstGeom>
          <a:noFill/>
          <a:ln/>
        </p:spPr>
        <p:txBody>
          <a:bodyPr wrap="square" lIns="0" tIns="0" rIns="0" bIns="0" rtlCol="0" anchor="t"/>
          <a:lstStyle/>
          <a:p>
            <a:pPr indent="0" marL="0">
              <a:buNone/>
            </a:pPr>
            <a:r>
              <a:rPr lang="en-US" sz="2000" b="1" dirty="0">
                <a:solidFill>
                  <a:schemeClr val="tx1"/>
                </a:solidFill>
              </a:rPr>
              <a:t>What to look for</a:t>
            </a:r>
            <a:endParaRPr lang="en-US" sz="2000" dirty="0"/>
          </a:p>
        </p:txBody>
      </p:sp>
      <p:sp>
        <p:nvSpPr>
          <p:cNvPr id="20" name="Persona row 1"/>
          <p:cNvSpPr/>
          <p:nvPr/>
        </p:nvSpPr>
        <p:spPr>
          <a:xfrm>
            <a:off x="4846320" y="1737360"/>
            <a:ext cx="3840480" cy="621792"/>
          </a:xfrm>
          <a:prstGeom prst="roundRect">
            <a:avLst>
              <a:gd name="adj" fmla="val 17647"/>
            </a:avLst>
          </a:prstGeom>
          <a:solidFill>
            <a:schemeClr val="bg2"/>
          </a:solidFill>
          <a:ln w="12700">
            <a:solidFill>
              <a:schemeClr val="bg2"/>
            </a:solidFill>
            <a:prstDash val="solid"/>
          </a:ln>
        </p:spPr>
      </p:sp>
      <p:sp>
        <p:nvSpPr>
          <p:cNvPr id="21" name="Text 18"/>
          <p:cNvSpPr txBox="1"/>
          <p:nvPr/>
        </p:nvSpPr>
        <p:spPr>
          <a:xfrm>
            <a:off x="5029200" y="1810512"/>
            <a:ext cx="3566160" cy="256032"/>
          </a:xfrm>
          <a:prstGeom prst="rect">
            <a:avLst/>
          </a:prstGeom>
          <a:noFill/>
          <a:ln/>
        </p:spPr>
        <p:txBody>
          <a:bodyPr wrap="square" lIns="0" tIns="0" rIns="0" bIns="0" rtlCol="0" anchor="t"/>
          <a:lstStyle/>
          <a:p>
            <a:pPr indent="0" marL="0">
              <a:buNone/>
            </a:pPr>
            <a:r>
              <a:rPr lang="en-US" sz="1400" b="1" dirty="0">
                <a:solidFill>
                  <a:schemeClr val="tx1"/>
                </a:solidFill>
              </a:rPr>
              <a:t>High spend + high frequency</a:t>
            </a:r>
            <a:endParaRPr lang="en-US" sz="1400" dirty="0"/>
          </a:p>
        </p:txBody>
      </p:sp>
      <p:sp>
        <p:nvSpPr>
          <p:cNvPr id="22" name="Text 19"/>
          <p:cNvSpPr txBox="1"/>
          <p:nvPr/>
        </p:nvSpPr>
        <p:spPr>
          <a:xfrm>
            <a:off x="5029200" y="2075688"/>
            <a:ext cx="3566160" cy="228600"/>
          </a:xfrm>
          <a:prstGeom prst="rect">
            <a:avLst/>
          </a:prstGeom>
          <a:noFill/>
          <a:ln/>
        </p:spPr>
        <p:txBody>
          <a:bodyPr wrap="square" lIns="0" tIns="0" rIns="0" bIns="0" rtlCol="0" anchor="t"/>
          <a:lstStyle/>
          <a:p>
            <a:pPr indent="0" marL="0">
              <a:buNone/>
            </a:pPr>
            <a:r>
              <a:rPr lang="en-US" sz="1200" dirty="0">
                <a:solidFill>
                  <a:schemeClr val="accent5"/>
                </a:solidFill>
              </a:rPr>
              <a:t>Loyal core: protect with perks</a:t>
            </a:r>
            <a:endParaRPr lang="en-US" sz="1200" dirty="0"/>
          </a:p>
        </p:txBody>
      </p:sp>
      <p:sp>
        <p:nvSpPr>
          <p:cNvPr id="23" name="Persona row 2"/>
          <p:cNvSpPr/>
          <p:nvPr/>
        </p:nvSpPr>
        <p:spPr>
          <a:xfrm>
            <a:off x="4846320" y="2468880"/>
            <a:ext cx="3840480" cy="621792"/>
          </a:xfrm>
          <a:prstGeom prst="roundRect">
            <a:avLst>
              <a:gd name="adj" fmla="val 17647"/>
            </a:avLst>
          </a:prstGeom>
          <a:solidFill>
            <a:schemeClr val="bg2"/>
          </a:solidFill>
          <a:ln w="12700">
            <a:solidFill>
              <a:schemeClr val="bg2"/>
            </a:solidFill>
            <a:prstDash val="solid"/>
          </a:ln>
        </p:spPr>
      </p:sp>
      <p:sp>
        <p:nvSpPr>
          <p:cNvPr id="24" name="Text 21"/>
          <p:cNvSpPr txBox="1"/>
          <p:nvPr/>
        </p:nvSpPr>
        <p:spPr>
          <a:xfrm>
            <a:off x="5029200" y="2542032"/>
            <a:ext cx="3566160" cy="256032"/>
          </a:xfrm>
          <a:prstGeom prst="rect">
            <a:avLst/>
          </a:prstGeom>
          <a:noFill/>
          <a:ln/>
        </p:spPr>
        <p:txBody>
          <a:bodyPr wrap="square" lIns="0" tIns="0" rIns="0" bIns="0" rtlCol="0" anchor="t"/>
          <a:lstStyle/>
          <a:p>
            <a:pPr indent="0" marL="0">
              <a:buNone/>
            </a:pPr>
            <a:r>
              <a:rPr lang="en-US" sz="1400" b="1" dirty="0">
                <a:solidFill>
                  <a:schemeClr val="tx1"/>
                </a:solidFill>
              </a:rPr>
              <a:t>Many late-night orders</a:t>
            </a:r>
            <a:endParaRPr lang="en-US" sz="1400" dirty="0"/>
          </a:p>
        </p:txBody>
      </p:sp>
      <p:sp>
        <p:nvSpPr>
          <p:cNvPr id="25" name="Text 22"/>
          <p:cNvSpPr txBox="1"/>
          <p:nvPr/>
        </p:nvSpPr>
        <p:spPr>
          <a:xfrm>
            <a:off x="5029200" y="2807208"/>
            <a:ext cx="3566160" cy="228600"/>
          </a:xfrm>
          <a:prstGeom prst="rect">
            <a:avLst/>
          </a:prstGeom>
          <a:noFill/>
          <a:ln/>
        </p:spPr>
        <p:txBody>
          <a:bodyPr wrap="square" lIns="0" tIns="0" rIns="0" bIns="0" rtlCol="0" anchor="t"/>
          <a:lstStyle/>
          <a:p>
            <a:pPr indent="0" marL="0">
              <a:buNone/>
            </a:pPr>
            <a:r>
              <a:rPr lang="en-US" sz="1200" dirty="0">
                <a:solidFill>
                  <a:schemeClr val="accent5"/>
                </a:solidFill>
              </a:rPr>
              <a:t>Night owls: time-based offers</a:t>
            </a:r>
            <a:endParaRPr lang="en-US" sz="1200" dirty="0"/>
          </a:p>
        </p:txBody>
      </p:sp>
      <p:sp>
        <p:nvSpPr>
          <p:cNvPr id="26" name="Persona row 3"/>
          <p:cNvSpPr/>
          <p:nvPr/>
        </p:nvSpPr>
        <p:spPr>
          <a:xfrm>
            <a:off x="4846320" y="3200400"/>
            <a:ext cx="3840480" cy="621792"/>
          </a:xfrm>
          <a:prstGeom prst="roundRect">
            <a:avLst>
              <a:gd name="adj" fmla="val 17647"/>
            </a:avLst>
          </a:prstGeom>
          <a:solidFill>
            <a:schemeClr val="bg2"/>
          </a:solidFill>
          <a:ln w="12700">
            <a:solidFill>
              <a:schemeClr val="bg2"/>
            </a:solidFill>
            <a:prstDash val="solid"/>
          </a:ln>
        </p:spPr>
      </p:sp>
      <p:sp>
        <p:nvSpPr>
          <p:cNvPr id="27" name="Text 24"/>
          <p:cNvSpPr txBox="1"/>
          <p:nvPr/>
        </p:nvSpPr>
        <p:spPr>
          <a:xfrm>
            <a:off x="5029200" y="3273552"/>
            <a:ext cx="3566160" cy="256032"/>
          </a:xfrm>
          <a:prstGeom prst="rect">
            <a:avLst/>
          </a:prstGeom>
          <a:noFill/>
          <a:ln/>
        </p:spPr>
        <p:txBody>
          <a:bodyPr wrap="square" lIns="0" tIns="0" rIns="0" bIns="0" rtlCol="0" anchor="t"/>
          <a:lstStyle/>
          <a:p>
            <a:pPr indent="0" marL="0">
              <a:buNone/>
            </a:pPr>
            <a:r>
              <a:rPr lang="en-US" sz="1400" b="1" dirty="0">
                <a:solidFill>
                  <a:schemeClr val="tx1"/>
                </a:solidFill>
              </a:rPr>
              <a:t>Many weekend orders</a:t>
            </a:r>
            <a:endParaRPr lang="en-US" sz="1400" dirty="0"/>
          </a:p>
        </p:txBody>
      </p:sp>
      <p:sp>
        <p:nvSpPr>
          <p:cNvPr id="28" name="Text 25"/>
          <p:cNvSpPr txBox="1"/>
          <p:nvPr/>
        </p:nvSpPr>
        <p:spPr>
          <a:xfrm>
            <a:off x="5029200" y="3538728"/>
            <a:ext cx="3566160" cy="228600"/>
          </a:xfrm>
          <a:prstGeom prst="rect">
            <a:avLst/>
          </a:prstGeom>
          <a:noFill/>
          <a:ln/>
        </p:spPr>
        <p:txBody>
          <a:bodyPr wrap="square" lIns="0" tIns="0" rIns="0" bIns="0" rtlCol="0" anchor="t"/>
          <a:lstStyle/>
          <a:p>
            <a:pPr indent="0" marL="0">
              <a:buNone/>
            </a:pPr>
            <a:r>
              <a:rPr lang="en-US" sz="1200" dirty="0">
                <a:solidFill>
                  <a:schemeClr val="accent5"/>
                </a:solidFill>
              </a:rPr>
              <a:t>Weekend diners: bundles, promos</a:t>
            </a:r>
            <a:endParaRPr lang="en-US" sz="1200" dirty="0"/>
          </a:p>
        </p:txBody>
      </p:sp>
      <p:sp>
        <p:nvSpPr>
          <p:cNvPr id="29" name="Persona row 4"/>
          <p:cNvSpPr/>
          <p:nvPr/>
        </p:nvSpPr>
        <p:spPr>
          <a:xfrm>
            <a:off x="4846320" y="3931920"/>
            <a:ext cx="3840480" cy="621792"/>
          </a:xfrm>
          <a:prstGeom prst="roundRect">
            <a:avLst>
              <a:gd name="adj" fmla="val 17647"/>
            </a:avLst>
          </a:prstGeom>
          <a:solidFill>
            <a:schemeClr val="bg2"/>
          </a:solidFill>
          <a:ln w="12700">
            <a:solidFill>
              <a:schemeClr val="bg2"/>
            </a:solidFill>
            <a:prstDash val="solid"/>
          </a:ln>
        </p:spPr>
      </p:sp>
      <p:sp>
        <p:nvSpPr>
          <p:cNvPr id="30" name="Text 27"/>
          <p:cNvSpPr txBox="1"/>
          <p:nvPr/>
        </p:nvSpPr>
        <p:spPr>
          <a:xfrm>
            <a:off x="5029200" y="4005072"/>
            <a:ext cx="3566160" cy="256032"/>
          </a:xfrm>
          <a:prstGeom prst="rect">
            <a:avLst/>
          </a:prstGeom>
          <a:noFill/>
          <a:ln/>
        </p:spPr>
        <p:txBody>
          <a:bodyPr wrap="square" lIns="0" tIns="0" rIns="0" bIns="0" rtlCol="0" anchor="t"/>
          <a:lstStyle/>
          <a:p>
            <a:pPr indent="0" marL="0">
              <a:buNone/>
            </a:pPr>
            <a:r>
              <a:rPr lang="en-US" sz="1400" b="1" dirty="0">
                <a:solidFill>
                  <a:schemeClr val="tx1"/>
                </a:solidFill>
              </a:rPr>
              <a:t>Few orders, low spend</a:t>
            </a:r>
            <a:endParaRPr lang="en-US" sz="1400" dirty="0"/>
          </a:p>
        </p:txBody>
      </p:sp>
      <p:sp>
        <p:nvSpPr>
          <p:cNvPr id="31" name="Text 28"/>
          <p:cNvSpPr txBox="1"/>
          <p:nvPr/>
        </p:nvSpPr>
        <p:spPr>
          <a:xfrm>
            <a:off x="5029200" y="4270248"/>
            <a:ext cx="3566160" cy="228600"/>
          </a:xfrm>
          <a:prstGeom prst="rect">
            <a:avLst/>
          </a:prstGeom>
          <a:noFill/>
          <a:ln/>
        </p:spPr>
        <p:txBody>
          <a:bodyPr wrap="square" lIns="0" tIns="0" rIns="0" bIns="0" rtlCol="0" anchor="t"/>
          <a:lstStyle/>
          <a:p>
            <a:pPr indent="0" marL="0">
              <a:buNone/>
            </a:pPr>
            <a:r>
              <a:rPr lang="en-US" sz="1200" dirty="0">
                <a:solidFill>
                  <a:schemeClr val="accent5"/>
                </a:solidFill>
              </a:rPr>
              <a:t>At risk: win-back campaigns</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NLP: Reading the Reviews</a:t>
            </a:r>
            <a:endParaRPr lang="en-US" sz="3200" dirty="0"/>
          </a:p>
        </p:txBody>
      </p:sp>
      <p:sp>
        <p:nvSpPr>
          <p:cNvPr id="4" name="NLP step 1"/>
          <p:cNvSpPr/>
          <p:nvPr/>
        </p:nvSpPr>
        <p:spPr>
          <a:xfrm>
            <a:off x="457200" y="1188720"/>
            <a:ext cx="5486400" cy="749808"/>
          </a:xfrm>
          <a:prstGeom prst="roundRect">
            <a:avLst>
              <a:gd name="adj" fmla="val 14634"/>
            </a:avLst>
          </a:prstGeom>
          <a:solidFill>
            <a:schemeClr val="bg2"/>
          </a:solidFill>
          <a:ln w="12700">
            <a:solidFill>
              <a:schemeClr val="bg2"/>
            </a:solidFill>
            <a:prstDash val="solid"/>
          </a:ln>
        </p:spPr>
      </p:sp>
      <p:sp>
        <p:nvSpPr>
          <p:cNvPr id="5" name="Step number 1"/>
          <p:cNvSpPr/>
          <p:nvPr/>
        </p:nvSpPr>
        <p:spPr>
          <a:xfrm>
            <a:off x="640080" y="1344168"/>
            <a:ext cx="438912" cy="438912"/>
          </a:xfrm>
          <a:prstGeom prst="ellipse">
            <a:avLst/>
          </a:prstGeom>
          <a:solidFill>
            <a:schemeClr val="accent1"/>
          </a:solidFill>
          <a:ln w="12700">
            <a:solidFill>
              <a:schemeClr val="accent1"/>
            </a:solidFill>
            <a:prstDash val="solid"/>
          </a:ln>
        </p:spPr>
      </p:sp>
      <p:sp>
        <p:nvSpPr>
          <p:cNvPr id="6" name="Text 3"/>
          <p:cNvSpPr txBox="1"/>
          <p:nvPr/>
        </p:nvSpPr>
        <p:spPr>
          <a:xfrm>
            <a:off x="640080" y="1344168"/>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4"/>
          <p:cNvSpPr txBox="1"/>
          <p:nvPr/>
        </p:nvSpPr>
        <p:spPr>
          <a:xfrm>
            <a:off x="1280160" y="1261872"/>
            <a:ext cx="4480560" cy="274320"/>
          </a:xfrm>
          <a:prstGeom prst="rect">
            <a:avLst/>
          </a:prstGeom>
          <a:noFill/>
          <a:ln/>
        </p:spPr>
        <p:txBody>
          <a:bodyPr wrap="square" lIns="0" tIns="0" rIns="0" bIns="0" rtlCol="0" anchor="t"/>
          <a:lstStyle/>
          <a:p>
            <a:pPr indent="0" marL="0">
              <a:buNone/>
            </a:pPr>
            <a:r>
              <a:rPr lang="en-US" sz="1600" b="1" dirty="0">
                <a:solidFill>
                  <a:schemeClr val="tx1"/>
                </a:solidFill>
              </a:rPr>
              <a:t>Preprocess</a:t>
            </a:r>
            <a:endParaRPr lang="en-US" sz="1600" dirty="0"/>
          </a:p>
        </p:txBody>
      </p:sp>
      <p:sp>
        <p:nvSpPr>
          <p:cNvPr id="8" name="Text 5"/>
          <p:cNvSpPr txBox="1"/>
          <p:nvPr/>
        </p:nvSpPr>
        <p:spPr>
          <a:xfrm>
            <a:off x="1280160" y="1554480"/>
            <a:ext cx="4480560" cy="320040"/>
          </a:xfrm>
          <a:prstGeom prst="rect">
            <a:avLst/>
          </a:prstGeom>
          <a:noFill/>
          <a:ln/>
        </p:spPr>
        <p:txBody>
          <a:bodyPr wrap="square" lIns="0" tIns="0" rIns="0" bIns="0" rtlCol="0" anchor="t"/>
          <a:lstStyle/>
          <a:p>
            <a:pPr indent="0" marL="0">
              <a:buNone/>
            </a:pPr>
            <a:r>
              <a:rPr lang="en-US" sz="1400" dirty="0">
                <a:solidFill>
                  <a:schemeClr val="accent4"/>
                </a:solidFill>
              </a:rPr>
              <a:t>Lowercase, remove punctuation and stop words</a:t>
            </a:r>
            <a:endParaRPr lang="en-US" sz="1400" dirty="0"/>
          </a:p>
        </p:txBody>
      </p:sp>
      <p:sp>
        <p:nvSpPr>
          <p:cNvPr id="9" name="NLP step 2"/>
          <p:cNvSpPr/>
          <p:nvPr/>
        </p:nvSpPr>
        <p:spPr>
          <a:xfrm>
            <a:off x="457200" y="2057400"/>
            <a:ext cx="5486400" cy="749808"/>
          </a:xfrm>
          <a:prstGeom prst="roundRect">
            <a:avLst>
              <a:gd name="adj" fmla="val 14634"/>
            </a:avLst>
          </a:prstGeom>
          <a:solidFill>
            <a:schemeClr val="bg2"/>
          </a:solidFill>
          <a:ln w="12700">
            <a:solidFill>
              <a:schemeClr val="bg2"/>
            </a:solidFill>
            <a:prstDash val="solid"/>
          </a:ln>
        </p:spPr>
      </p:sp>
      <p:sp>
        <p:nvSpPr>
          <p:cNvPr id="10" name="Step number 2"/>
          <p:cNvSpPr/>
          <p:nvPr/>
        </p:nvSpPr>
        <p:spPr>
          <a:xfrm>
            <a:off x="640080" y="2212848"/>
            <a:ext cx="438912" cy="438912"/>
          </a:xfrm>
          <a:prstGeom prst="ellipse">
            <a:avLst/>
          </a:prstGeom>
          <a:solidFill>
            <a:schemeClr val="accent1"/>
          </a:solidFill>
          <a:ln w="12700">
            <a:solidFill>
              <a:schemeClr val="accent1"/>
            </a:solidFill>
            <a:prstDash val="solid"/>
          </a:ln>
        </p:spPr>
      </p:sp>
      <p:sp>
        <p:nvSpPr>
          <p:cNvPr id="11" name="Text 8"/>
          <p:cNvSpPr txBox="1"/>
          <p:nvPr/>
        </p:nvSpPr>
        <p:spPr>
          <a:xfrm>
            <a:off x="640080" y="2212848"/>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9"/>
          <p:cNvSpPr txBox="1"/>
          <p:nvPr/>
        </p:nvSpPr>
        <p:spPr>
          <a:xfrm>
            <a:off x="1280160" y="2130552"/>
            <a:ext cx="4480560" cy="274320"/>
          </a:xfrm>
          <a:prstGeom prst="rect">
            <a:avLst/>
          </a:prstGeom>
          <a:noFill/>
          <a:ln/>
        </p:spPr>
        <p:txBody>
          <a:bodyPr wrap="square" lIns="0" tIns="0" rIns="0" bIns="0" rtlCol="0" anchor="t"/>
          <a:lstStyle/>
          <a:p>
            <a:pPr indent="0" marL="0">
              <a:buNone/>
            </a:pPr>
            <a:r>
              <a:rPr lang="en-US" sz="1600" b="1" dirty="0">
                <a:solidFill>
                  <a:schemeClr val="tx1"/>
                </a:solidFill>
              </a:rPr>
              <a:t>TF-IDF</a:t>
            </a:r>
            <a:endParaRPr lang="en-US" sz="1600" dirty="0"/>
          </a:p>
        </p:txBody>
      </p:sp>
      <p:sp>
        <p:nvSpPr>
          <p:cNvPr id="13" name="Text 10"/>
          <p:cNvSpPr txBox="1"/>
          <p:nvPr/>
        </p:nvSpPr>
        <p:spPr>
          <a:xfrm>
            <a:off x="1280160" y="2423160"/>
            <a:ext cx="4480560" cy="320040"/>
          </a:xfrm>
          <a:prstGeom prst="rect">
            <a:avLst/>
          </a:prstGeom>
          <a:noFill/>
          <a:ln/>
        </p:spPr>
        <p:txBody>
          <a:bodyPr wrap="square" lIns="0" tIns="0" rIns="0" bIns="0" rtlCol="0" anchor="t"/>
          <a:lstStyle/>
          <a:p>
            <a:pPr indent="0" marL="0">
              <a:buNone/>
            </a:pPr>
            <a:r>
              <a:rPr lang="en-US" sz="1400" dirty="0">
                <a:solidFill>
                  <a:schemeClr val="accent4"/>
                </a:solidFill>
              </a:rPr>
              <a:t>Turn each review into weighted word-importance scores</a:t>
            </a:r>
            <a:endParaRPr lang="en-US" sz="1400" dirty="0"/>
          </a:p>
        </p:txBody>
      </p:sp>
      <p:sp>
        <p:nvSpPr>
          <p:cNvPr id="14" name="NLP step 3"/>
          <p:cNvSpPr/>
          <p:nvPr/>
        </p:nvSpPr>
        <p:spPr>
          <a:xfrm>
            <a:off x="457200" y="2926080"/>
            <a:ext cx="5486400" cy="749808"/>
          </a:xfrm>
          <a:prstGeom prst="roundRect">
            <a:avLst>
              <a:gd name="adj" fmla="val 14634"/>
            </a:avLst>
          </a:prstGeom>
          <a:solidFill>
            <a:schemeClr val="bg2"/>
          </a:solidFill>
          <a:ln w="12700">
            <a:solidFill>
              <a:schemeClr val="bg2"/>
            </a:solidFill>
            <a:prstDash val="solid"/>
          </a:ln>
        </p:spPr>
      </p:sp>
      <p:sp>
        <p:nvSpPr>
          <p:cNvPr id="15" name="Step number 3"/>
          <p:cNvSpPr/>
          <p:nvPr/>
        </p:nvSpPr>
        <p:spPr>
          <a:xfrm>
            <a:off x="640080" y="3081528"/>
            <a:ext cx="438912" cy="438912"/>
          </a:xfrm>
          <a:prstGeom prst="ellipse">
            <a:avLst/>
          </a:prstGeom>
          <a:solidFill>
            <a:schemeClr val="accent1"/>
          </a:solidFill>
          <a:ln w="12700">
            <a:solidFill>
              <a:schemeClr val="accent1"/>
            </a:solidFill>
            <a:prstDash val="solid"/>
          </a:ln>
        </p:spPr>
      </p:sp>
      <p:sp>
        <p:nvSpPr>
          <p:cNvPr id="16" name="Text 13"/>
          <p:cNvSpPr txBox="1"/>
          <p:nvPr/>
        </p:nvSpPr>
        <p:spPr>
          <a:xfrm>
            <a:off x="640080" y="3081528"/>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7" name="Text 14"/>
          <p:cNvSpPr txBox="1"/>
          <p:nvPr/>
        </p:nvSpPr>
        <p:spPr>
          <a:xfrm>
            <a:off x="1280160" y="2999232"/>
            <a:ext cx="4480560" cy="274320"/>
          </a:xfrm>
          <a:prstGeom prst="rect">
            <a:avLst/>
          </a:prstGeom>
          <a:noFill/>
          <a:ln/>
        </p:spPr>
        <p:txBody>
          <a:bodyPr wrap="square" lIns="0" tIns="0" rIns="0" bIns="0" rtlCol="0" anchor="t"/>
          <a:lstStyle/>
          <a:p>
            <a:pPr indent="0" marL="0">
              <a:buNone/>
            </a:pPr>
            <a:r>
              <a:rPr lang="en-US" sz="1600" b="1" dirty="0">
                <a:solidFill>
                  <a:schemeClr val="tx1"/>
                </a:solidFill>
              </a:rPr>
              <a:t>Sentiment model</a:t>
            </a:r>
            <a:endParaRPr lang="en-US" sz="1600" dirty="0"/>
          </a:p>
        </p:txBody>
      </p:sp>
      <p:sp>
        <p:nvSpPr>
          <p:cNvPr id="18" name="Text 15"/>
          <p:cNvSpPr txBox="1"/>
          <p:nvPr/>
        </p:nvSpPr>
        <p:spPr>
          <a:xfrm>
            <a:off x="1280160" y="3291840"/>
            <a:ext cx="4480560" cy="320040"/>
          </a:xfrm>
          <a:prstGeom prst="rect">
            <a:avLst/>
          </a:prstGeom>
          <a:noFill/>
          <a:ln/>
        </p:spPr>
        <p:txBody>
          <a:bodyPr wrap="square" lIns="0" tIns="0" rIns="0" bIns="0" rtlCol="0" anchor="t"/>
          <a:lstStyle/>
          <a:p>
            <a:pPr indent="0" marL="0">
              <a:buNone/>
            </a:pPr>
            <a:r>
              <a:rPr lang="en-US" sz="1400" dirty="0">
                <a:solidFill>
                  <a:schemeClr val="accent4"/>
                </a:solidFill>
              </a:rPr>
              <a:t>Train a classifier: positive, neutral or negative</a:t>
            </a:r>
            <a:endParaRPr lang="en-US" sz="1400" dirty="0"/>
          </a:p>
        </p:txBody>
      </p:sp>
      <p:sp>
        <p:nvSpPr>
          <p:cNvPr id="19" name="NLP step 4"/>
          <p:cNvSpPr/>
          <p:nvPr/>
        </p:nvSpPr>
        <p:spPr>
          <a:xfrm>
            <a:off x="457200" y="3794760"/>
            <a:ext cx="5486400" cy="749808"/>
          </a:xfrm>
          <a:prstGeom prst="roundRect">
            <a:avLst>
              <a:gd name="adj" fmla="val 14634"/>
            </a:avLst>
          </a:prstGeom>
          <a:solidFill>
            <a:schemeClr val="bg2"/>
          </a:solidFill>
          <a:ln w="12700">
            <a:solidFill>
              <a:schemeClr val="bg2"/>
            </a:solidFill>
            <a:prstDash val="solid"/>
          </a:ln>
        </p:spPr>
      </p:sp>
      <p:sp>
        <p:nvSpPr>
          <p:cNvPr id="20" name="Step number 4"/>
          <p:cNvSpPr/>
          <p:nvPr/>
        </p:nvSpPr>
        <p:spPr>
          <a:xfrm>
            <a:off x="640080" y="3950208"/>
            <a:ext cx="438912" cy="438912"/>
          </a:xfrm>
          <a:prstGeom prst="ellipse">
            <a:avLst/>
          </a:prstGeom>
          <a:solidFill>
            <a:schemeClr val="accent1"/>
          </a:solidFill>
          <a:ln w="12700">
            <a:solidFill>
              <a:schemeClr val="accent1"/>
            </a:solidFill>
            <a:prstDash val="solid"/>
          </a:ln>
        </p:spPr>
      </p:sp>
      <p:sp>
        <p:nvSpPr>
          <p:cNvPr id="21" name="Text 18"/>
          <p:cNvSpPr txBox="1"/>
          <p:nvPr/>
        </p:nvSpPr>
        <p:spPr>
          <a:xfrm>
            <a:off x="640080" y="3950208"/>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2" name="Text 19"/>
          <p:cNvSpPr txBox="1"/>
          <p:nvPr/>
        </p:nvSpPr>
        <p:spPr>
          <a:xfrm>
            <a:off x="1280160" y="3867912"/>
            <a:ext cx="4480560" cy="274320"/>
          </a:xfrm>
          <a:prstGeom prst="rect">
            <a:avLst/>
          </a:prstGeom>
          <a:noFill/>
          <a:ln/>
        </p:spPr>
        <p:txBody>
          <a:bodyPr wrap="square" lIns="0" tIns="0" rIns="0" bIns="0" rtlCol="0" anchor="t"/>
          <a:lstStyle/>
          <a:p>
            <a:pPr indent="0" marL="0">
              <a:buNone/>
            </a:pPr>
            <a:r>
              <a:rPr lang="en-US" sz="1600" b="1" dirty="0">
                <a:solidFill>
                  <a:schemeClr val="tx1"/>
                </a:solidFill>
              </a:rPr>
              <a:t>Evaluate</a:t>
            </a:r>
            <a:endParaRPr lang="en-US" sz="1600" dirty="0"/>
          </a:p>
        </p:txBody>
      </p:sp>
      <p:sp>
        <p:nvSpPr>
          <p:cNvPr id="23" name="Text 20"/>
          <p:cNvSpPr txBox="1"/>
          <p:nvPr/>
        </p:nvSpPr>
        <p:spPr>
          <a:xfrm>
            <a:off x="1280160" y="4160520"/>
            <a:ext cx="4480560" cy="320040"/>
          </a:xfrm>
          <a:prstGeom prst="rect">
            <a:avLst/>
          </a:prstGeom>
          <a:noFill/>
          <a:ln/>
        </p:spPr>
        <p:txBody>
          <a:bodyPr wrap="square" lIns="0" tIns="0" rIns="0" bIns="0" rtlCol="0" anchor="t"/>
          <a:lstStyle/>
          <a:p>
            <a:pPr indent="0" marL="0">
              <a:buNone/>
            </a:pPr>
            <a:r>
              <a:rPr lang="en-US" sz="1400" dirty="0">
                <a:solidFill>
                  <a:schemeClr val="accent4"/>
                </a:solidFill>
              </a:rPr>
              <a:t>Accuracy, precision, recall, F1, confusion matrix</a:t>
            </a:r>
            <a:endParaRPr lang="en-US" sz="1400" dirty="0"/>
          </a:p>
        </p:txBody>
      </p:sp>
      <p:sp>
        <p:nvSpPr>
          <p:cNvPr id="24" name="Reviews stat panel"/>
          <p:cNvSpPr/>
          <p:nvPr/>
        </p:nvSpPr>
        <p:spPr>
          <a:xfrm>
            <a:off x="6217920" y="1188720"/>
            <a:ext cx="2468880" cy="3310128"/>
          </a:xfrm>
          <a:prstGeom prst="roundRect">
            <a:avLst>
              <a:gd name="adj" fmla="val 4444"/>
            </a:avLst>
          </a:prstGeom>
          <a:solidFill>
            <a:schemeClr val="tx1"/>
          </a:solidFill>
          <a:ln w="12700">
            <a:solidFill>
              <a:schemeClr val="tx1"/>
            </a:solidFill>
            <a:prstDash val="solid"/>
          </a:ln>
        </p:spPr>
      </p:sp>
      <p:sp>
        <p:nvSpPr>
          <p:cNvPr id="25" name="Text 22"/>
          <p:cNvSpPr txBox="1"/>
          <p:nvPr/>
        </p:nvSpPr>
        <p:spPr>
          <a:xfrm>
            <a:off x="6355080" y="1554480"/>
            <a:ext cx="2194560" cy="731520"/>
          </a:xfrm>
          <a:prstGeom prst="rect">
            <a:avLst/>
          </a:prstGeom>
          <a:noFill/>
          <a:ln/>
        </p:spPr>
        <p:txBody>
          <a:bodyPr wrap="square" lIns="0" tIns="0" rIns="0" bIns="0" rtlCol="0" anchor="t"/>
          <a:lstStyle/>
          <a:p>
            <a:pPr algn="ctr" indent="0" marL="0">
              <a:buNone/>
            </a:pPr>
            <a:r>
              <a:rPr lang="en-US" sz="4000" b="1" dirty="0">
                <a:solidFill>
                  <a:schemeClr val="accent1"/>
                </a:solidFill>
              </a:rPr>
              <a:t>19,082</a:t>
            </a:r>
            <a:endParaRPr lang="en-US" sz="4000" dirty="0"/>
          </a:p>
        </p:txBody>
      </p:sp>
      <p:sp>
        <p:nvSpPr>
          <p:cNvPr id="26" name="Text 23"/>
          <p:cNvSpPr txBox="1"/>
          <p:nvPr/>
        </p:nvSpPr>
        <p:spPr>
          <a:xfrm>
            <a:off x="6355080" y="2331720"/>
            <a:ext cx="2194560" cy="365760"/>
          </a:xfrm>
          <a:prstGeom prst="rect">
            <a:avLst/>
          </a:prstGeom>
          <a:noFill/>
          <a:ln/>
        </p:spPr>
        <p:txBody>
          <a:bodyPr wrap="square" lIns="0" tIns="0" rIns="0" bIns="0" rtlCol="0" anchor="t"/>
          <a:lstStyle/>
          <a:p>
            <a:pPr algn="ctr" indent="0" marL="0">
              <a:buNone/>
            </a:pPr>
            <a:r>
              <a:rPr lang="en-US" sz="1400" dirty="0">
                <a:solidFill>
                  <a:schemeClr val="bg1"/>
                </a:solidFill>
              </a:rPr>
              <a:t>reviews analysed</a:t>
            </a:r>
            <a:endParaRPr lang="en-US" sz="1400" dirty="0"/>
          </a:p>
        </p:txBody>
      </p:sp>
      <p:sp>
        <p:nvSpPr>
          <p:cNvPr id="27" name="Text 24"/>
          <p:cNvSpPr txBox="1"/>
          <p:nvPr/>
        </p:nvSpPr>
        <p:spPr>
          <a:xfrm>
            <a:off x="6355080" y="3108960"/>
            <a:ext cx="2194560" cy="731520"/>
          </a:xfrm>
          <a:prstGeom prst="rect">
            <a:avLst/>
          </a:prstGeom>
          <a:noFill/>
          <a:ln/>
        </p:spPr>
        <p:txBody>
          <a:bodyPr wrap="square" lIns="0" tIns="0" rIns="0" bIns="0" rtlCol="0" anchor="t"/>
          <a:lstStyle/>
          <a:p>
            <a:pPr algn="ctr" indent="0" marL="0">
              <a:buNone/>
            </a:pPr>
            <a:r>
              <a:rPr lang="en-US" sz="4000" b="1" dirty="0">
                <a:solidFill>
                  <a:schemeClr val="accent1"/>
                </a:solidFill>
              </a:rPr>
              <a:t>0</a:t>
            </a:r>
            <a:endParaRPr lang="en-US" sz="4000" dirty="0"/>
          </a:p>
        </p:txBody>
      </p:sp>
      <p:sp>
        <p:nvSpPr>
          <p:cNvPr id="28" name="Text 25"/>
          <p:cNvSpPr txBox="1"/>
          <p:nvPr/>
        </p:nvSpPr>
        <p:spPr>
          <a:xfrm>
            <a:off x="6355080" y="3886200"/>
            <a:ext cx="2194560" cy="365760"/>
          </a:xfrm>
          <a:prstGeom prst="rect">
            <a:avLst/>
          </a:prstGeom>
          <a:noFill/>
          <a:ln/>
        </p:spPr>
        <p:txBody>
          <a:bodyPr wrap="square" lIns="0" tIns="0" rIns="0" bIns="0" rtlCol="0" anchor="t"/>
          <a:lstStyle/>
          <a:p>
            <a:pPr algn="ctr" indent="0" marL="0">
              <a:buNone/>
            </a:pPr>
            <a:r>
              <a:rPr lang="en-US" sz="1400" dirty="0">
                <a:solidFill>
                  <a:schemeClr val="bg1"/>
                </a:solidFill>
              </a:rPr>
              <a:t>missing values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Sentiment: What Customers Feel</a:t>
            </a:r>
            <a:endParaRPr lang="en-US" sz="3200" dirty="0"/>
          </a:p>
        </p:txBody>
      </p:sp>
      <p:graphicFrame>
        <p:nvGraphicFramePr>
          <p:cNvPr id="4" name="Chart 0" descr=""/>
          <p:cNvGraphicFramePr/>
          <p:nvPr/>
        </p:nvGraphicFramePr>
        <p:xfrm>
          <a:off x="365760" y="1143000"/>
          <a:ext cx="4023360" cy="2834640"/>
        </p:xfrm>
        <a:graphic xmlns:a="http://schemas.openxmlformats.org/drawingml/2006/main">
          <a:graphicData uri="http://schemas.openxmlformats.org/drawingml/2006/chart">
            <c:chart xmlns:c="http://schemas.openxmlformats.org/drawingml/2006/chart" r:id="rId1"/>
          </a:graphicData>
        </a:graphic>
      </p:graphicFrame>
      <p:sp>
        <p:nvSpPr>
          <p:cNvPr id="5" name="Sentiment row Positive"/>
          <p:cNvSpPr/>
          <p:nvPr/>
        </p:nvSpPr>
        <p:spPr>
          <a:xfrm>
            <a:off x="4754880" y="1234440"/>
            <a:ext cx="3931920" cy="777240"/>
          </a:xfrm>
          <a:prstGeom prst="roundRect">
            <a:avLst>
              <a:gd name="adj" fmla="val 14118"/>
            </a:avLst>
          </a:prstGeom>
          <a:solidFill>
            <a:schemeClr val="bg2"/>
          </a:solidFill>
          <a:ln w="12700">
            <a:solidFill>
              <a:schemeClr val="bg2"/>
            </a:solidFill>
            <a:prstDash val="solid"/>
          </a:ln>
        </p:spPr>
      </p:sp>
      <p:sp>
        <p:nvSpPr>
          <p:cNvPr id="6" name="Legend dot Positive"/>
          <p:cNvSpPr/>
          <p:nvPr/>
        </p:nvSpPr>
        <p:spPr>
          <a:xfrm>
            <a:off x="4937760" y="1490472"/>
            <a:ext cx="256032" cy="256032"/>
          </a:xfrm>
          <a:prstGeom prst="ellipse">
            <a:avLst/>
          </a:prstGeom>
          <a:solidFill>
            <a:schemeClr val="accent1"/>
          </a:solidFill>
          <a:ln w="12700">
            <a:solidFill>
              <a:schemeClr val="accent1"/>
            </a:solidFill>
            <a:prstDash val="solid"/>
          </a:ln>
        </p:spPr>
      </p:sp>
      <p:sp>
        <p:nvSpPr>
          <p:cNvPr id="7" name="Text 3"/>
          <p:cNvSpPr txBox="1"/>
          <p:nvPr/>
        </p:nvSpPr>
        <p:spPr>
          <a:xfrm>
            <a:off x="5349240" y="1325880"/>
            <a:ext cx="1463040" cy="594360"/>
          </a:xfrm>
          <a:prstGeom prst="rect">
            <a:avLst/>
          </a:prstGeom>
          <a:noFill/>
          <a:ln/>
        </p:spPr>
        <p:txBody>
          <a:bodyPr wrap="square" lIns="0" tIns="0" rIns="0" bIns="0" rtlCol="0" anchor="ctr"/>
          <a:lstStyle/>
          <a:p>
            <a:pPr indent="0" marL="0">
              <a:buNone/>
            </a:pPr>
            <a:r>
              <a:rPr lang="en-US" sz="1600" b="1" dirty="0">
                <a:solidFill>
                  <a:schemeClr val="tx1"/>
                </a:solidFill>
              </a:rPr>
              <a:t>Positive</a:t>
            </a:r>
            <a:endParaRPr lang="en-US" sz="1600" dirty="0"/>
          </a:p>
        </p:txBody>
      </p:sp>
      <p:sp>
        <p:nvSpPr>
          <p:cNvPr id="8" name="Text 4"/>
          <p:cNvSpPr txBox="1"/>
          <p:nvPr/>
        </p:nvSpPr>
        <p:spPr>
          <a:xfrm>
            <a:off x="6675120" y="1325880"/>
            <a:ext cx="914400" cy="594360"/>
          </a:xfrm>
          <a:prstGeom prst="rect">
            <a:avLst/>
          </a:prstGeom>
          <a:noFill/>
          <a:ln/>
        </p:spPr>
        <p:txBody>
          <a:bodyPr wrap="square" lIns="0" tIns="0" rIns="0" bIns="0" rtlCol="0" anchor="ctr"/>
          <a:lstStyle/>
          <a:p>
            <a:pPr algn="r" indent="0" marL="0">
              <a:buNone/>
            </a:pPr>
            <a:r>
              <a:rPr lang="en-US" sz="1400" dirty="0">
                <a:solidFill>
                  <a:schemeClr val="tx1"/>
                </a:solidFill>
              </a:rPr>
              <a:t>14,132</a:t>
            </a:r>
            <a:endParaRPr lang="en-US" sz="1400" dirty="0"/>
          </a:p>
        </p:txBody>
      </p:sp>
      <p:sp>
        <p:nvSpPr>
          <p:cNvPr id="9" name="Text 5"/>
          <p:cNvSpPr txBox="1"/>
          <p:nvPr/>
        </p:nvSpPr>
        <p:spPr>
          <a:xfrm>
            <a:off x="7589520" y="1325880"/>
            <a:ext cx="960120" cy="594360"/>
          </a:xfrm>
          <a:prstGeom prst="rect">
            <a:avLst/>
          </a:prstGeom>
          <a:noFill/>
          <a:ln/>
        </p:spPr>
        <p:txBody>
          <a:bodyPr wrap="square" lIns="0" tIns="0" rIns="0" bIns="0" rtlCol="0" anchor="ctr"/>
          <a:lstStyle/>
          <a:p>
            <a:pPr algn="r" indent="0" marL="0">
              <a:buNone/>
            </a:pPr>
            <a:r>
              <a:rPr lang="en-US" sz="1600" b="1" dirty="0">
                <a:solidFill>
                  <a:schemeClr val="tx1"/>
                </a:solidFill>
              </a:rPr>
              <a:t>74.06%</a:t>
            </a:r>
            <a:endParaRPr lang="en-US" sz="1600" dirty="0"/>
          </a:p>
        </p:txBody>
      </p:sp>
      <p:sp>
        <p:nvSpPr>
          <p:cNvPr id="10" name="Sentiment row Neutral"/>
          <p:cNvSpPr/>
          <p:nvPr/>
        </p:nvSpPr>
        <p:spPr>
          <a:xfrm>
            <a:off x="4754880" y="2148840"/>
            <a:ext cx="3931920" cy="777240"/>
          </a:xfrm>
          <a:prstGeom prst="roundRect">
            <a:avLst>
              <a:gd name="adj" fmla="val 14118"/>
            </a:avLst>
          </a:prstGeom>
          <a:solidFill>
            <a:schemeClr val="bg2"/>
          </a:solidFill>
          <a:ln w="12700">
            <a:solidFill>
              <a:schemeClr val="bg2"/>
            </a:solidFill>
            <a:prstDash val="solid"/>
          </a:ln>
        </p:spPr>
      </p:sp>
      <p:sp>
        <p:nvSpPr>
          <p:cNvPr id="11" name="Legend dot Neutral"/>
          <p:cNvSpPr/>
          <p:nvPr/>
        </p:nvSpPr>
        <p:spPr>
          <a:xfrm>
            <a:off x="4937760" y="2404872"/>
            <a:ext cx="256032" cy="256032"/>
          </a:xfrm>
          <a:prstGeom prst="ellipse">
            <a:avLst/>
          </a:prstGeom>
          <a:solidFill>
            <a:schemeClr val="accent4"/>
          </a:solidFill>
          <a:ln w="12700">
            <a:solidFill>
              <a:schemeClr val="accent4"/>
            </a:solidFill>
            <a:prstDash val="solid"/>
          </a:ln>
        </p:spPr>
      </p:sp>
      <p:sp>
        <p:nvSpPr>
          <p:cNvPr id="12" name="Text 8"/>
          <p:cNvSpPr txBox="1"/>
          <p:nvPr/>
        </p:nvSpPr>
        <p:spPr>
          <a:xfrm>
            <a:off x="5349240" y="2240280"/>
            <a:ext cx="1463040" cy="594360"/>
          </a:xfrm>
          <a:prstGeom prst="rect">
            <a:avLst/>
          </a:prstGeom>
          <a:noFill/>
          <a:ln/>
        </p:spPr>
        <p:txBody>
          <a:bodyPr wrap="square" lIns="0" tIns="0" rIns="0" bIns="0" rtlCol="0" anchor="ctr"/>
          <a:lstStyle/>
          <a:p>
            <a:pPr indent="0" marL="0">
              <a:buNone/>
            </a:pPr>
            <a:r>
              <a:rPr lang="en-US" sz="1600" b="1" dirty="0">
                <a:solidFill>
                  <a:schemeClr val="tx1"/>
                </a:solidFill>
              </a:rPr>
              <a:t>Neutral</a:t>
            </a:r>
            <a:endParaRPr lang="en-US" sz="1600" dirty="0"/>
          </a:p>
        </p:txBody>
      </p:sp>
      <p:sp>
        <p:nvSpPr>
          <p:cNvPr id="13" name="Text 9"/>
          <p:cNvSpPr txBox="1"/>
          <p:nvPr/>
        </p:nvSpPr>
        <p:spPr>
          <a:xfrm>
            <a:off x="6675120" y="2240280"/>
            <a:ext cx="914400" cy="594360"/>
          </a:xfrm>
          <a:prstGeom prst="rect">
            <a:avLst/>
          </a:prstGeom>
          <a:noFill/>
          <a:ln/>
        </p:spPr>
        <p:txBody>
          <a:bodyPr wrap="square" lIns="0" tIns="0" rIns="0" bIns="0" rtlCol="0" anchor="ctr"/>
          <a:lstStyle/>
          <a:p>
            <a:pPr algn="r" indent="0" marL="0">
              <a:buNone/>
            </a:pPr>
            <a:r>
              <a:rPr lang="en-US" sz="1400" dirty="0">
                <a:solidFill>
                  <a:schemeClr val="tx1"/>
                </a:solidFill>
              </a:rPr>
              <a:t>3,809</a:t>
            </a:r>
            <a:endParaRPr lang="en-US" sz="1400" dirty="0"/>
          </a:p>
        </p:txBody>
      </p:sp>
      <p:sp>
        <p:nvSpPr>
          <p:cNvPr id="14" name="Text 10"/>
          <p:cNvSpPr txBox="1"/>
          <p:nvPr/>
        </p:nvSpPr>
        <p:spPr>
          <a:xfrm>
            <a:off x="7589520" y="2240280"/>
            <a:ext cx="960120" cy="594360"/>
          </a:xfrm>
          <a:prstGeom prst="rect">
            <a:avLst/>
          </a:prstGeom>
          <a:noFill/>
          <a:ln/>
        </p:spPr>
        <p:txBody>
          <a:bodyPr wrap="square" lIns="0" tIns="0" rIns="0" bIns="0" rtlCol="0" anchor="ctr"/>
          <a:lstStyle/>
          <a:p>
            <a:pPr algn="r" indent="0" marL="0">
              <a:buNone/>
            </a:pPr>
            <a:r>
              <a:rPr lang="en-US" sz="1600" b="1" dirty="0">
                <a:solidFill>
                  <a:schemeClr val="tx1"/>
                </a:solidFill>
              </a:rPr>
              <a:t>19.96%</a:t>
            </a:r>
            <a:endParaRPr lang="en-US" sz="1600" dirty="0"/>
          </a:p>
        </p:txBody>
      </p:sp>
      <p:sp>
        <p:nvSpPr>
          <p:cNvPr id="15" name="Sentiment row Negative"/>
          <p:cNvSpPr/>
          <p:nvPr/>
        </p:nvSpPr>
        <p:spPr>
          <a:xfrm>
            <a:off x="4754880" y="3063240"/>
            <a:ext cx="3931920" cy="777240"/>
          </a:xfrm>
          <a:prstGeom prst="roundRect">
            <a:avLst>
              <a:gd name="adj" fmla="val 14118"/>
            </a:avLst>
          </a:prstGeom>
          <a:solidFill>
            <a:schemeClr val="bg2"/>
          </a:solidFill>
          <a:ln w="12700">
            <a:solidFill>
              <a:schemeClr val="bg2"/>
            </a:solidFill>
            <a:prstDash val="solid"/>
          </a:ln>
        </p:spPr>
      </p:sp>
      <p:sp>
        <p:nvSpPr>
          <p:cNvPr id="16" name="Legend dot Negative"/>
          <p:cNvSpPr/>
          <p:nvPr/>
        </p:nvSpPr>
        <p:spPr>
          <a:xfrm>
            <a:off x="4937760" y="3319272"/>
            <a:ext cx="256032" cy="256032"/>
          </a:xfrm>
          <a:prstGeom prst="ellipse">
            <a:avLst/>
          </a:prstGeom>
          <a:solidFill>
            <a:schemeClr val="accent3"/>
          </a:solidFill>
          <a:ln w="12700">
            <a:solidFill>
              <a:schemeClr val="accent3"/>
            </a:solidFill>
            <a:prstDash val="solid"/>
          </a:ln>
        </p:spPr>
      </p:sp>
      <p:sp>
        <p:nvSpPr>
          <p:cNvPr id="17" name="Text 13"/>
          <p:cNvSpPr txBox="1"/>
          <p:nvPr/>
        </p:nvSpPr>
        <p:spPr>
          <a:xfrm>
            <a:off x="5349240" y="3154680"/>
            <a:ext cx="1463040" cy="594360"/>
          </a:xfrm>
          <a:prstGeom prst="rect">
            <a:avLst/>
          </a:prstGeom>
          <a:noFill/>
          <a:ln/>
        </p:spPr>
        <p:txBody>
          <a:bodyPr wrap="square" lIns="0" tIns="0" rIns="0" bIns="0" rtlCol="0" anchor="ctr"/>
          <a:lstStyle/>
          <a:p>
            <a:pPr indent="0" marL="0">
              <a:buNone/>
            </a:pPr>
            <a:r>
              <a:rPr lang="en-US" sz="1600" b="1" dirty="0">
                <a:solidFill>
                  <a:schemeClr val="tx1"/>
                </a:solidFill>
              </a:rPr>
              <a:t>Negative</a:t>
            </a:r>
            <a:endParaRPr lang="en-US" sz="1600" dirty="0"/>
          </a:p>
        </p:txBody>
      </p:sp>
      <p:sp>
        <p:nvSpPr>
          <p:cNvPr id="18" name="Text 14"/>
          <p:cNvSpPr txBox="1"/>
          <p:nvPr/>
        </p:nvSpPr>
        <p:spPr>
          <a:xfrm>
            <a:off x="6675120" y="3154680"/>
            <a:ext cx="914400" cy="594360"/>
          </a:xfrm>
          <a:prstGeom prst="rect">
            <a:avLst/>
          </a:prstGeom>
          <a:noFill/>
          <a:ln/>
        </p:spPr>
        <p:txBody>
          <a:bodyPr wrap="square" lIns="0" tIns="0" rIns="0" bIns="0" rtlCol="0" anchor="ctr"/>
          <a:lstStyle/>
          <a:p>
            <a:pPr algn="r" indent="0" marL="0">
              <a:buNone/>
            </a:pPr>
            <a:r>
              <a:rPr lang="en-US" sz="1400" dirty="0">
                <a:solidFill>
                  <a:schemeClr val="tx1"/>
                </a:solidFill>
              </a:rPr>
              <a:t>1,141</a:t>
            </a:r>
            <a:endParaRPr lang="en-US" sz="1400" dirty="0"/>
          </a:p>
        </p:txBody>
      </p:sp>
      <p:sp>
        <p:nvSpPr>
          <p:cNvPr id="19" name="Text 15"/>
          <p:cNvSpPr txBox="1"/>
          <p:nvPr/>
        </p:nvSpPr>
        <p:spPr>
          <a:xfrm>
            <a:off x="7589520" y="3154680"/>
            <a:ext cx="960120" cy="594360"/>
          </a:xfrm>
          <a:prstGeom prst="rect">
            <a:avLst/>
          </a:prstGeom>
          <a:noFill/>
          <a:ln/>
        </p:spPr>
        <p:txBody>
          <a:bodyPr wrap="square" lIns="0" tIns="0" rIns="0" bIns="0" rtlCol="0" anchor="ctr"/>
          <a:lstStyle/>
          <a:p>
            <a:pPr algn="r" indent="0" marL="0">
              <a:buNone/>
            </a:pPr>
            <a:r>
              <a:rPr lang="en-US" sz="1600" b="1" dirty="0">
                <a:solidFill>
                  <a:schemeClr val="tx1"/>
                </a:solidFill>
              </a:rPr>
              <a:t>5.98%</a:t>
            </a:r>
            <a:endParaRPr lang="en-US" sz="1600" dirty="0"/>
          </a:p>
        </p:txBody>
      </p:sp>
      <p:sp>
        <p:nvSpPr>
          <p:cNvPr id="20" name="Takeaway banner"/>
          <p:cNvSpPr/>
          <p:nvPr/>
        </p:nvSpPr>
        <p:spPr>
          <a:xfrm>
            <a:off x="457200" y="4069080"/>
            <a:ext cx="8229600" cy="594360"/>
          </a:xfrm>
          <a:prstGeom prst="roundRect">
            <a:avLst>
              <a:gd name="adj" fmla="val 18462"/>
            </a:avLst>
          </a:prstGeom>
          <a:solidFill>
            <a:schemeClr val="accent6"/>
          </a:solidFill>
          <a:ln w="12700">
            <a:solidFill>
              <a:schemeClr val="accent6"/>
            </a:solidFill>
            <a:prstDash val="solid"/>
          </a:ln>
        </p:spPr>
      </p:sp>
      <p:sp>
        <p:nvSpPr>
          <p:cNvPr id="21" name="Text 17"/>
          <p:cNvSpPr txBox="1"/>
          <p:nvPr/>
        </p:nvSpPr>
        <p:spPr>
          <a:xfrm>
            <a:off x="685800" y="4069080"/>
            <a:ext cx="7772400" cy="594360"/>
          </a:xfrm>
          <a:prstGeom prst="rect">
            <a:avLst/>
          </a:prstGeom>
          <a:noFill/>
          <a:ln/>
        </p:spPr>
        <p:txBody>
          <a:bodyPr wrap="square" lIns="0" tIns="0" rIns="0" bIns="0" rtlCol="0" anchor="ctr"/>
          <a:lstStyle/>
          <a:p>
            <a:pPr indent="0" marL="0">
              <a:buNone/>
            </a:pPr>
            <a:r>
              <a:rPr lang="en-US" sz="1400" b="1" dirty="0">
                <a:solidFill>
                  <a:schemeClr val="accent5"/>
                </a:solidFill>
              </a:rPr>
              <a:t>Only 6% of reviews are negative, so judge on per-class recall and macro-F1.</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Regression: Predicting Delivery</a:t>
            </a:r>
            <a:endParaRPr lang="en-US" sz="3200" dirty="0"/>
          </a:p>
        </p:txBody>
      </p:sp>
      <p:sp>
        <p:nvSpPr>
          <p:cNvPr id="4" name="Regression card Features"/>
          <p:cNvSpPr/>
          <p:nvPr/>
        </p:nvSpPr>
        <p:spPr>
          <a:xfrm>
            <a:off x="457200" y="1188720"/>
            <a:ext cx="3977640" cy="1554480"/>
          </a:xfrm>
          <a:prstGeom prst="roundRect">
            <a:avLst>
              <a:gd name="adj" fmla="val 7059"/>
            </a:avLst>
          </a:prstGeom>
          <a:solidFill>
            <a:schemeClr val="bg2"/>
          </a:solidFill>
          <a:ln w="12700">
            <a:solidFill>
              <a:schemeClr val="bg2"/>
            </a:solidFill>
            <a:prstDash val="solid"/>
          </a:ln>
        </p:spPr>
      </p:sp>
      <p:sp>
        <p:nvSpPr>
          <p:cNvPr id="5" name="Icon circle list"/>
          <p:cNvSpPr/>
          <p:nvPr/>
        </p:nvSpPr>
        <p:spPr>
          <a:xfrm>
            <a:off x="640080" y="1371600"/>
            <a:ext cx="457200" cy="457200"/>
          </a:xfrm>
          <a:prstGeom prst="ellipse">
            <a:avLst/>
          </a:prstGeom>
          <a:solidFill>
            <a:schemeClr val="accent1"/>
          </a:solidFill>
          <a:ln w="12700">
            <a:solidFill>
              <a:schemeClr val="accent1"/>
            </a:solidFill>
            <a:prstDash val="solid"/>
          </a:ln>
        </p:spPr>
      </p:sp>
      <p:pic>
        <p:nvPicPr>
          <p:cNvPr id="6" name="Image 0" descr="list icon">    </p:cNvPr>
          <p:cNvPicPr>
            <a:picLocks noChangeAspect="1"/>
          </p:cNvPicPr>
          <p:nvPr/>
        </p:nvPicPr>
        <p:blipFill>
          <a:blip r:embed="rId1"/>
          <a:stretch>
            <a:fillRect/>
          </a:stretch>
        </p:blipFill>
        <p:spPr>
          <a:xfrm>
            <a:off x="754380" y="1485900"/>
            <a:ext cx="228600" cy="228600"/>
          </a:xfrm>
          <a:prstGeom prst="rect">
            <a:avLst/>
          </a:prstGeom>
        </p:spPr>
      </p:pic>
      <p:sp>
        <p:nvSpPr>
          <p:cNvPr id="7" name="Text 3"/>
          <p:cNvSpPr txBox="1"/>
          <p:nvPr/>
        </p:nvSpPr>
        <p:spPr>
          <a:xfrm>
            <a:off x="1280160" y="1371600"/>
            <a:ext cx="3017520" cy="457200"/>
          </a:xfrm>
          <a:prstGeom prst="rect">
            <a:avLst/>
          </a:prstGeom>
          <a:noFill/>
          <a:ln/>
        </p:spPr>
        <p:txBody>
          <a:bodyPr wrap="square" lIns="0" tIns="0" rIns="0" bIns="0" rtlCol="0" anchor="ctr"/>
          <a:lstStyle/>
          <a:p>
            <a:pPr indent="0" marL="0">
              <a:buNone/>
            </a:pPr>
            <a:r>
              <a:rPr lang="en-US" sz="1800" b="1" dirty="0">
                <a:solidFill>
                  <a:schemeClr val="tx1"/>
                </a:solidFill>
              </a:rPr>
              <a:t>Features</a:t>
            </a:r>
            <a:endParaRPr lang="en-US" sz="1800" dirty="0"/>
          </a:p>
        </p:txBody>
      </p:sp>
      <p:sp>
        <p:nvSpPr>
          <p:cNvPr id="8" name="Text 4"/>
          <p:cNvSpPr txBox="1"/>
          <p:nvPr/>
        </p:nvSpPr>
        <p:spPr>
          <a:xfrm>
            <a:off x="640080" y="1965960"/>
            <a:ext cx="3611880" cy="731520"/>
          </a:xfrm>
          <a:prstGeom prst="rect">
            <a:avLst/>
          </a:prstGeom>
          <a:noFill/>
          <a:ln/>
        </p:spPr>
        <p:txBody>
          <a:bodyPr wrap="square" lIns="0" tIns="0" rIns="0" bIns="0" rtlCol="0" anchor="t"/>
          <a:lstStyle/>
          <a:p>
            <a:pPr indent="0" marL="0">
              <a:buNone/>
            </a:pPr>
            <a:r>
              <a:rPr lang="en-US" sz="1400" dirty="0">
                <a:solidFill>
                  <a:schemeClr val="tx1"/>
                </a:solidFill>
              </a:rPr>
              <a:t>Restaurant prep time, rating, cancellation rate, order volume, time-of-day signals.</a:t>
            </a:r>
            <a:endParaRPr lang="en-US" sz="1400" dirty="0"/>
          </a:p>
        </p:txBody>
      </p:sp>
      <p:sp>
        <p:nvSpPr>
          <p:cNvPr id="9" name="Regression card Models"/>
          <p:cNvSpPr/>
          <p:nvPr/>
        </p:nvSpPr>
        <p:spPr>
          <a:xfrm>
            <a:off x="4709160" y="1188720"/>
            <a:ext cx="3977640" cy="1554480"/>
          </a:xfrm>
          <a:prstGeom prst="roundRect">
            <a:avLst>
              <a:gd name="adj" fmla="val 7059"/>
            </a:avLst>
          </a:prstGeom>
          <a:solidFill>
            <a:schemeClr val="bg2"/>
          </a:solidFill>
          <a:ln w="12700">
            <a:solidFill>
              <a:schemeClr val="bg2"/>
            </a:solidFill>
            <a:prstDash val="solid"/>
          </a:ln>
        </p:spPr>
      </p:sp>
      <p:sp>
        <p:nvSpPr>
          <p:cNvPr id="10" name="Icon circle flask"/>
          <p:cNvSpPr/>
          <p:nvPr/>
        </p:nvSpPr>
        <p:spPr>
          <a:xfrm>
            <a:off x="4892040" y="1371600"/>
            <a:ext cx="457200" cy="457200"/>
          </a:xfrm>
          <a:prstGeom prst="ellipse">
            <a:avLst/>
          </a:prstGeom>
          <a:solidFill>
            <a:schemeClr val="accent1"/>
          </a:solidFill>
          <a:ln w="12700">
            <a:solidFill>
              <a:schemeClr val="accent1"/>
            </a:solidFill>
            <a:prstDash val="solid"/>
          </a:ln>
        </p:spPr>
      </p:sp>
      <p:pic>
        <p:nvPicPr>
          <p:cNvPr id="11" name="Image 1" descr="flask icon">    </p:cNvPr>
          <p:cNvPicPr>
            <a:picLocks noChangeAspect="1"/>
          </p:cNvPicPr>
          <p:nvPr/>
        </p:nvPicPr>
        <p:blipFill>
          <a:blip r:embed="rId2"/>
          <a:stretch>
            <a:fillRect/>
          </a:stretch>
        </p:blipFill>
        <p:spPr>
          <a:xfrm>
            <a:off x="5006340" y="1485900"/>
            <a:ext cx="228600" cy="228600"/>
          </a:xfrm>
          <a:prstGeom prst="rect">
            <a:avLst/>
          </a:prstGeom>
        </p:spPr>
      </p:pic>
      <p:sp>
        <p:nvSpPr>
          <p:cNvPr id="12" name="Text 7"/>
          <p:cNvSpPr txBox="1"/>
          <p:nvPr/>
        </p:nvSpPr>
        <p:spPr>
          <a:xfrm>
            <a:off x="5532120" y="1371600"/>
            <a:ext cx="3017520" cy="457200"/>
          </a:xfrm>
          <a:prstGeom prst="rect">
            <a:avLst/>
          </a:prstGeom>
          <a:noFill/>
          <a:ln/>
        </p:spPr>
        <p:txBody>
          <a:bodyPr wrap="square" lIns="0" tIns="0" rIns="0" bIns="0" rtlCol="0" anchor="ctr"/>
          <a:lstStyle/>
          <a:p>
            <a:pPr indent="0" marL="0">
              <a:buNone/>
            </a:pPr>
            <a:r>
              <a:rPr lang="en-US" sz="1800" b="1" dirty="0">
                <a:solidFill>
                  <a:schemeClr val="tx1"/>
                </a:solidFill>
              </a:rPr>
              <a:t>Models</a:t>
            </a:r>
            <a:endParaRPr lang="en-US" sz="1800" dirty="0"/>
          </a:p>
        </p:txBody>
      </p:sp>
      <p:sp>
        <p:nvSpPr>
          <p:cNvPr id="13" name="Text 8"/>
          <p:cNvSpPr txBox="1"/>
          <p:nvPr/>
        </p:nvSpPr>
        <p:spPr>
          <a:xfrm>
            <a:off x="4892040" y="1965960"/>
            <a:ext cx="3611880" cy="731520"/>
          </a:xfrm>
          <a:prstGeom prst="rect">
            <a:avLst/>
          </a:prstGeom>
          <a:noFill/>
          <a:ln/>
        </p:spPr>
        <p:txBody>
          <a:bodyPr wrap="square" lIns="0" tIns="0" rIns="0" bIns="0" rtlCol="0" anchor="t"/>
          <a:lstStyle/>
          <a:p>
            <a:pPr indent="0" marL="0">
              <a:buNone/>
            </a:pPr>
            <a:r>
              <a:rPr lang="en-US" sz="1400" dirty="0">
                <a:solidFill>
                  <a:schemeClr val="tx1"/>
                </a:solidFill>
              </a:rPr>
              <a:t>Linear Regression baseline, then Random Forest and Gradient Boosting.</a:t>
            </a:r>
            <a:endParaRPr lang="en-US" sz="1400" dirty="0"/>
          </a:p>
        </p:txBody>
      </p:sp>
      <p:sp>
        <p:nvSpPr>
          <p:cNvPr id="14" name="Regression card Evaluation"/>
          <p:cNvSpPr/>
          <p:nvPr/>
        </p:nvSpPr>
        <p:spPr>
          <a:xfrm>
            <a:off x="457200" y="2926080"/>
            <a:ext cx="3977640" cy="1554480"/>
          </a:xfrm>
          <a:prstGeom prst="roundRect">
            <a:avLst>
              <a:gd name="adj" fmla="val 7059"/>
            </a:avLst>
          </a:prstGeom>
          <a:solidFill>
            <a:schemeClr val="bg2"/>
          </a:solidFill>
          <a:ln w="12700">
            <a:solidFill>
              <a:schemeClr val="bg2"/>
            </a:solidFill>
            <a:prstDash val="solid"/>
          </a:ln>
        </p:spPr>
      </p:sp>
      <p:sp>
        <p:nvSpPr>
          <p:cNvPr id="15" name="Icon circle check"/>
          <p:cNvSpPr/>
          <p:nvPr/>
        </p:nvSpPr>
        <p:spPr>
          <a:xfrm>
            <a:off x="640080" y="3108960"/>
            <a:ext cx="457200" cy="457200"/>
          </a:xfrm>
          <a:prstGeom prst="ellipse">
            <a:avLst/>
          </a:prstGeom>
          <a:solidFill>
            <a:schemeClr val="accent2"/>
          </a:solidFill>
          <a:ln w="12700">
            <a:solidFill>
              <a:schemeClr val="accent2"/>
            </a:solidFill>
            <a:prstDash val="solid"/>
          </a:ln>
        </p:spPr>
      </p:sp>
      <p:pic>
        <p:nvPicPr>
          <p:cNvPr id="16" name="Image 2" descr="check icon">    </p:cNvPr>
          <p:cNvPicPr>
            <a:picLocks noChangeAspect="1"/>
          </p:cNvPicPr>
          <p:nvPr/>
        </p:nvPicPr>
        <p:blipFill>
          <a:blip r:embed="rId3"/>
          <a:stretch>
            <a:fillRect/>
          </a:stretch>
        </p:blipFill>
        <p:spPr>
          <a:xfrm>
            <a:off x="754380" y="3223260"/>
            <a:ext cx="228600" cy="228600"/>
          </a:xfrm>
          <a:prstGeom prst="rect">
            <a:avLst/>
          </a:prstGeom>
        </p:spPr>
      </p:pic>
      <p:sp>
        <p:nvSpPr>
          <p:cNvPr id="17" name="Text 11"/>
          <p:cNvSpPr txBox="1"/>
          <p:nvPr/>
        </p:nvSpPr>
        <p:spPr>
          <a:xfrm>
            <a:off x="1280160" y="3108960"/>
            <a:ext cx="3017520" cy="457200"/>
          </a:xfrm>
          <a:prstGeom prst="rect">
            <a:avLst/>
          </a:prstGeom>
          <a:noFill/>
          <a:ln/>
        </p:spPr>
        <p:txBody>
          <a:bodyPr wrap="square" lIns="0" tIns="0" rIns="0" bIns="0" rtlCol="0" anchor="ctr"/>
          <a:lstStyle/>
          <a:p>
            <a:pPr indent="0" marL="0">
              <a:buNone/>
            </a:pPr>
            <a:r>
              <a:rPr lang="en-US" sz="1800" b="1" dirty="0">
                <a:solidFill>
                  <a:schemeClr val="tx1"/>
                </a:solidFill>
              </a:rPr>
              <a:t>Evaluation</a:t>
            </a:r>
            <a:endParaRPr lang="en-US" sz="1800" dirty="0"/>
          </a:p>
        </p:txBody>
      </p:sp>
      <p:sp>
        <p:nvSpPr>
          <p:cNvPr id="18" name="Text 12"/>
          <p:cNvSpPr txBox="1"/>
          <p:nvPr/>
        </p:nvSpPr>
        <p:spPr>
          <a:xfrm>
            <a:off x="640080" y="3703320"/>
            <a:ext cx="3611880" cy="731520"/>
          </a:xfrm>
          <a:prstGeom prst="rect">
            <a:avLst/>
          </a:prstGeom>
          <a:noFill/>
          <a:ln/>
        </p:spPr>
        <p:txBody>
          <a:bodyPr wrap="square" lIns="0" tIns="0" rIns="0" bIns="0" rtlCol="0" anchor="t"/>
          <a:lstStyle/>
          <a:p>
            <a:pPr indent="0" marL="0">
              <a:buNone/>
            </a:pPr>
            <a:r>
              <a:rPr lang="en-US" sz="1400" dirty="0">
                <a:solidFill>
                  <a:schemeClr val="tx1"/>
                </a:solidFill>
              </a:rPr>
              <a:t>MAE, RMSE and R² on held-out data. Export shows MAE 0.0: verify for leakage.</a:t>
            </a:r>
            <a:endParaRPr lang="en-US" sz="1400" dirty="0"/>
          </a:p>
        </p:txBody>
      </p:sp>
      <p:sp>
        <p:nvSpPr>
          <p:cNvPr id="19" name="Regression card Best model + importance"/>
          <p:cNvSpPr/>
          <p:nvPr/>
        </p:nvSpPr>
        <p:spPr>
          <a:xfrm>
            <a:off x="4709160" y="2926080"/>
            <a:ext cx="3977640" cy="1554480"/>
          </a:xfrm>
          <a:prstGeom prst="roundRect">
            <a:avLst>
              <a:gd name="adj" fmla="val 7059"/>
            </a:avLst>
          </a:prstGeom>
          <a:solidFill>
            <a:schemeClr val="bg2"/>
          </a:solidFill>
          <a:ln w="12700">
            <a:solidFill>
              <a:schemeClr val="bg2"/>
            </a:solidFill>
            <a:prstDash val="solid"/>
          </a:ln>
        </p:spPr>
      </p:sp>
      <p:sp>
        <p:nvSpPr>
          <p:cNvPr id="20" name="Icon circle chart"/>
          <p:cNvSpPr/>
          <p:nvPr/>
        </p:nvSpPr>
        <p:spPr>
          <a:xfrm>
            <a:off x="4892040" y="3108960"/>
            <a:ext cx="457200" cy="457200"/>
          </a:xfrm>
          <a:prstGeom prst="ellipse">
            <a:avLst/>
          </a:prstGeom>
          <a:solidFill>
            <a:schemeClr val="accent1"/>
          </a:solidFill>
          <a:ln w="12700">
            <a:solidFill>
              <a:schemeClr val="accent1"/>
            </a:solidFill>
            <a:prstDash val="solid"/>
          </a:ln>
        </p:spPr>
      </p:sp>
      <p:pic>
        <p:nvPicPr>
          <p:cNvPr id="21" name="Image 3" descr="chart icon">    </p:cNvPr>
          <p:cNvPicPr>
            <a:picLocks noChangeAspect="1"/>
          </p:cNvPicPr>
          <p:nvPr/>
        </p:nvPicPr>
        <p:blipFill>
          <a:blip r:embed="rId4"/>
          <a:stretch>
            <a:fillRect/>
          </a:stretch>
        </p:blipFill>
        <p:spPr>
          <a:xfrm>
            <a:off x="5006340" y="3223260"/>
            <a:ext cx="228600" cy="228600"/>
          </a:xfrm>
          <a:prstGeom prst="rect">
            <a:avLst/>
          </a:prstGeom>
        </p:spPr>
      </p:pic>
      <p:sp>
        <p:nvSpPr>
          <p:cNvPr id="22" name="Text 15"/>
          <p:cNvSpPr txBox="1"/>
          <p:nvPr/>
        </p:nvSpPr>
        <p:spPr>
          <a:xfrm>
            <a:off x="5532120" y="3108960"/>
            <a:ext cx="3017520" cy="457200"/>
          </a:xfrm>
          <a:prstGeom prst="rect">
            <a:avLst/>
          </a:prstGeom>
          <a:noFill/>
          <a:ln/>
        </p:spPr>
        <p:txBody>
          <a:bodyPr wrap="square" lIns="0" tIns="0" rIns="0" bIns="0" rtlCol="0" anchor="ctr"/>
          <a:lstStyle/>
          <a:p>
            <a:pPr indent="0" marL="0">
              <a:buNone/>
            </a:pPr>
            <a:r>
              <a:rPr lang="en-US" sz="1800" b="1" dirty="0">
                <a:solidFill>
                  <a:schemeClr val="tx1"/>
                </a:solidFill>
              </a:rPr>
              <a:t>Best model + importance</a:t>
            </a:r>
            <a:endParaRPr lang="en-US" sz="1800" dirty="0"/>
          </a:p>
        </p:txBody>
      </p:sp>
      <p:sp>
        <p:nvSpPr>
          <p:cNvPr id="23" name="Text 16"/>
          <p:cNvSpPr txBox="1"/>
          <p:nvPr/>
        </p:nvSpPr>
        <p:spPr>
          <a:xfrm>
            <a:off x="4892040" y="3703320"/>
            <a:ext cx="3611880" cy="731520"/>
          </a:xfrm>
          <a:prstGeom prst="rect">
            <a:avLst/>
          </a:prstGeom>
          <a:noFill/>
          <a:ln/>
        </p:spPr>
        <p:txBody>
          <a:bodyPr wrap="square" lIns="0" tIns="0" rIns="0" bIns="0" rtlCol="0" anchor="t"/>
          <a:lstStyle/>
          <a:p>
            <a:pPr indent="0" marL="0">
              <a:buNone/>
            </a:pPr>
            <a:r>
              <a:rPr lang="en-US" sz="1400" dirty="0">
                <a:solidFill>
                  <a:schemeClr val="tx1"/>
                </a:solidFill>
              </a:rPr>
              <a:t>Pick the lowest test RMSE, then rank features to show what drives delivery time.</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Demand Forecasting</a:t>
            </a:r>
            <a:endParaRPr lang="en-US" sz="3200" dirty="0"/>
          </a:p>
        </p:txBody>
      </p:sp>
      <p:sp>
        <p:nvSpPr>
          <p:cNvPr id="4" name="Forecast step Decomposition"/>
          <p:cNvSpPr/>
          <p:nvPr/>
        </p:nvSpPr>
        <p:spPr>
          <a:xfrm>
            <a:off x="457200" y="1325880"/>
            <a:ext cx="1517904" cy="2377440"/>
          </a:xfrm>
          <a:prstGeom prst="roundRect">
            <a:avLst>
              <a:gd name="adj" fmla="val 7229"/>
            </a:avLst>
          </a:prstGeom>
          <a:solidFill>
            <a:schemeClr val="bg2"/>
          </a:solidFill>
          <a:ln w="12700">
            <a:solidFill>
              <a:schemeClr val="bg2"/>
            </a:solidFill>
            <a:prstDash val="solid"/>
          </a:ln>
        </p:spPr>
      </p:sp>
      <p:sp>
        <p:nvSpPr>
          <p:cNvPr id="5" name="Forecast number 1"/>
          <p:cNvSpPr/>
          <p:nvPr/>
        </p:nvSpPr>
        <p:spPr>
          <a:xfrm>
            <a:off x="594360" y="1463040"/>
            <a:ext cx="411480" cy="411480"/>
          </a:xfrm>
          <a:prstGeom prst="ellipse">
            <a:avLst/>
          </a:prstGeom>
          <a:solidFill>
            <a:schemeClr val="accent1"/>
          </a:solidFill>
          <a:ln w="12700">
            <a:solidFill>
              <a:schemeClr val="accent1"/>
            </a:solidFill>
            <a:prstDash val="solid"/>
          </a:ln>
        </p:spPr>
      </p:sp>
      <p:sp>
        <p:nvSpPr>
          <p:cNvPr id="6" name="Text 3"/>
          <p:cNvSpPr txBox="1"/>
          <p:nvPr/>
        </p:nvSpPr>
        <p:spPr>
          <a:xfrm>
            <a:off x="594360" y="146304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4"/>
          <p:cNvSpPr txBox="1"/>
          <p:nvPr/>
        </p:nvSpPr>
        <p:spPr>
          <a:xfrm>
            <a:off x="594360" y="2011680"/>
            <a:ext cx="1280160" cy="320040"/>
          </a:xfrm>
          <a:prstGeom prst="rect">
            <a:avLst/>
          </a:prstGeom>
          <a:noFill/>
          <a:ln/>
        </p:spPr>
        <p:txBody>
          <a:bodyPr wrap="square" lIns="0" tIns="0" rIns="0" bIns="0" rtlCol="0" anchor="t"/>
          <a:lstStyle/>
          <a:p>
            <a:pPr indent="0" marL="0">
              <a:buNone/>
            </a:pPr>
            <a:r>
              <a:rPr lang="en-US" sz="1400" b="1" dirty="0">
                <a:solidFill>
                  <a:schemeClr val="tx1"/>
                </a:solidFill>
              </a:rPr>
              <a:t>Decomposition</a:t>
            </a:r>
            <a:endParaRPr lang="en-US" sz="1400" dirty="0"/>
          </a:p>
        </p:txBody>
      </p:sp>
      <p:sp>
        <p:nvSpPr>
          <p:cNvPr id="8" name="Text 5"/>
          <p:cNvSpPr txBox="1"/>
          <p:nvPr/>
        </p:nvSpPr>
        <p:spPr>
          <a:xfrm>
            <a:off x="594360" y="2377440"/>
            <a:ext cx="1280160" cy="1280160"/>
          </a:xfrm>
          <a:prstGeom prst="rect">
            <a:avLst/>
          </a:prstGeom>
          <a:noFill/>
          <a:ln/>
        </p:spPr>
        <p:txBody>
          <a:bodyPr wrap="square" lIns="0" tIns="0" rIns="0" bIns="0" rtlCol="0" anchor="t"/>
          <a:lstStyle/>
          <a:p>
            <a:pPr indent="0" marL="0">
              <a:buNone/>
            </a:pPr>
            <a:r>
              <a:rPr lang="en-US" sz="1400" dirty="0">
                <a:solidFill>
                  <a:schemeClr val="accent4"/>
                </a:solidFill>
              </a:rPr>
              <a:t>Split orders into trend, seasonality and noise</a:t>
            </a:r>
            <a:endParaRPr lang="en-US" sz="1400" dirty="0"/>
          </a:p>
        </p:txBody>
      </p:sp>
      <p:sp>
        <p:nvSpPr>
          <p:cNvPr id="9" name="Forecast step Stationarity"/>
          <p:cNvSpPr/>
          <p:nvPr/>
        </p:nvSpPr>
        <p:spPr>
          <a:xfrm>
            <a:off x="2121408" y="1325880"/>
            <a:ext cx="1517904" cy="2377440"/>
          </a:xfrm>
          <a:prstGeom prst="roundRect">
            <a:avLst>
              <a:gd name="adj" fmla="val 7229"/>
            </a:avLst>
          </a:prstGeom>
          <a:solidFill>
            <a:schemeClr val="bg2"/>
          </a:solidFill>
          <a:ln w="12700">
            <a:solidFill>
              <a:schemeClr val="bg2"/>
            </a:solidFill>
            <a:prstDash val="solid"/>
          </a:ln>
        </p:spPr>
      </p:sp>
      <p:sp>
        <p:nvSpPr>
          <p:cNvPr id="10" name="Forecast number 2"/>
          <p:cNvSpPr/>
          <p:nvPr/>
        </p:nvSpPr>
        <p:spPr>
          <a:xfrm>
            <a:off x="2258568" y="1463040"/>
            <a:ext cx="411480" cy="411480"/>
          </a:xfrm>
          <a:prstGeom prst="ellipse">
            <a:avLst/>
          </a:prstGeom>
          <a:solidFill>
            <a:schemeClr val="accent1"/>
          </a:solidFill>
          <a:ln w="12700">
            <a:solidFill>
              <a:schemeClr val="accent1"/>
            </a:solidFill>
            <a:prstDash val="solid"/>
          </a:ln>
        </p:spPr>
      </p:sp>
      <p:sp>
        <p:nvSpPr>
          <p:cNvPr id="11" name="Text 8"/>
          <p:cNvSpPr txBox="1"/>
          <p:nvPr/>
        </p:nvSpPr>
        <p:spPr>
          <a:xfrm>
            <a:off x="2258568" y="146304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9"/>
          <p:cNvSpPr txBox="1"/>
          <p:nvPr/>
        </p:nvSpPr>
        <p:spPr>
          <a:xfrm>
            <a:off x="2258568" y="2011680"/>
            <a:ext cx="1280160" cy="320040"/>
          </a:xfrm>
          <a:prstGeom prst="rect">
            <a:avLst/>
          </a:prstGeom>
          <a:noFill/>
          <a:ln/>
        </p:spPr>
        <p:txBody>
          <a:bodyPr wrap="square" lIns="0" tIns="0" rIns="0" bIns="0" rtlCol="0" anchor="t"/>
          <a:lstStyle/>
          <a:p>
            <a:pPr indent="0" marL="0">
              <a:buNone/>
            </a:pPr>
            <a:r>
              <a:rPr lang="en-US" sz="1400" b="1" dirty="0">
                <a:solidFill>
                  <a:schemeClr val="tx1"/>
                </a:solidFill>
              </a:rPr>
              <a:t>Stationarity</a:t>
            </a:r>
            <a:endParaRPr lang="en-US" sz="1400" dirty="0"/>
          </a:p>
        </p:txBody>
      </p:sp>
      <p:sp>
        <p:nvSpPr>
          <p:cNvPr id="13" name="Text 10"/>
          <p:cNvSpPr txBox="1"/>
          <p:nvPr/>
        </p:nvSpPr>
        <p:spPr>
          <a:xfrm>
            <a:off x="2258568" y="2377440"/>
            <a:ext cx="1280160" cy="1280160"/>
          </a:xfrm>
          <a:prstGeom prst="rect">
            <a:avLst/>
          </a:prstGeom>
          <a:noFill/>
          <a:ln/>
        </p:spPr>
        <p:txBody>
          <a:bodyPr wrap="square" lIns="0" tIns="0" rIns="0" bIns="0" rtlCol="0" anchor="t"/>
          <a:lstStyle/>
          <a:p>
            <a:pPr indent="0" marL="0">
              <a:buNone/>
            </a:pPr>
            <a:r>
              <a:rPr lang="en-US" sz="1400" dirty="0">
                <a:solidFill>
                  <a:schemeClr val="accent4"/>
                </a:solidFill>
              </a:rPr>
              <a:t>ADF test; difference the series if needed</a:t>
            </a:r>
            <a:endParaRPr lang="en-US" sz="1400" dirty="0"/>
          </a:p>
        </p:txBody>
      </p:sp>
      <p:sp>
        <p:nvSpPr>
          <p:cNvPr id="14" name="Forecast step ARIMA"/>
          <p:cNvSpPr/>
          <p:nvPr/>
        </p:nvSpPr>
        <p:spPr>
          <a:xfrm>
            <a:off x="3785616" y="1325880"/>
            <a:ext cx="1517904" cy="2377440"/>
          </a:xfrm>
          <a:prstGeom prst="roundRect">
            <a:avLst>
              <a:gd name="adj" fmla="val 7229"/>
            </a:avLst>
          </a:prstGeom>
          <a:solidFill>
            <a:schemeClr val="bg2"/>
          </a:solidFill>
          <a:ln w="12700">
            <a:solidFill>
              <a:schemeClr val="bg2"/>
            </a:solidFill>
            <a:prstDash val="solid"/>
          </a:ln>
        </p:spPr>
      </p:sp>
      <p:sp>
        <p:nvSpPr>
          <p:cNvPr id="15" name="Forecast number 3"/>
          <p:cNvSpPr/>
          <p:nvPr/>
        </p:nvSpPr>
        <p:spPr>
          <a:xfrm>
            <a:off x="3922776" y="1463040"/>
            <a:ext cx="411480" cy="411480"/>
          </a:xfrm>
          <a:prstGeom prst="ellipse">
            <a:avLst/>
          </a:prstGeom>
          <a:solidFill>
            <a:schemeClr val="accent1"/>
          </a:solidFill>
          <a:ln w="12700">
            <a:solidFill>
              <a:schemeClr val="accent1"/>
            </a:solidFill>
            <a:prstDash val="solid"/>
          </a:ln>
        </p:spPr>
      </p:sp>
      <p:sp>
        <p:nvSpPr>
          <p:cNvPr id="16" name="Text 13"/>
          <p:cNvSpPr txBox="1"/>
          <p:nvPr/>
        </p:nvSpPr>
        <p:spPr>
          <a:xfrm>
            <a:off x="3922776" y="146304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7" name="Text 14"/>
          <p:cNvSpPr txBox="1"/>
          <p:nvPr/>
        </p:nvSpPr>
        <p:spPr>
          <a:xfrm>
            <a:off x="3922776" y="2011680"/>
            <a:ext cx="1280160" cy="320040"/>
          </a:xfrm>
          <a:prstGeom prst="rect">
            <a:avLst/>
          </a:prstGeom>
          <a:noFill/>
          <a:ln/>
        </p:spPr>
        <p:txBody>
          <a:bodyPr wrap="square" lIns="0" tIns="0" rIns="0" bIns="0" rtlCol="0" anchor="t"/>
          <a:lstStyle/>
          <a:p>
            <a:pPr indent="0" marL="0">
              <a:buNone/>
            </a:pPr>
            <a:r>
              <a:rPr lang="en-US" sz="1400" b="1" dirty="0">
                <a:solidFill>
                  <a:schemeClr val="tx1"/>
                </a:solidFill>
              </a:rPr>
              <a:t>ARIMA</a:t>
            </a:r>
            <a:endParaRPr lang="en-US" sz="1400" dirty="0"/>
          </a:p>
        </p:txBody>
      </p:sp>
      <p:sp>
        <p:nvSpPr>
          <p:cNvPr id="18" name="Text 15"/>
          <p:cNvSpPr txBox="1"/>
          <p:nvPr/>
        </p:nvSpPr>
        <p:spPr>
          <a:xfrm>
            <a:off x="3922776" y="2377440"/>
            <a:ext cx="1280160" cy="1280160"/>
          </a:xfrm>
          <a:prstGeom prst="rect">
            <a:avLst/>
          </a:prstGeom>
          <a:noFill/>
          <a:ln/>
        </p:spPr>
        <p:txBody>
          <a:bodyPr wrap="square" lIns="0" tIns="0" rIns="0" bIns="0" rtlCol="0" anchor="t"/>
          <a:lstStyle/>
          <a:p>
            <a:pPr indent="0" marL="0">
              <a:buNone/>
            </a:pPr>
            <a:r>
              <a:rPr lang="en-US" sz="1400" dirty="0">
                <a:solidFill>
                  <a:schemeClr val="accent4"/>
                </a:solidFill>
              </a:rPr>
              <a:t>Classical model tuned on (p, d, q)</a:t>
            </a:r>
            <a:endParaRPr lang="en-US" sz="1400" dirty="0"/>
          </a:p>
        </p:txBody>
      </p:sp>
      <p:sp>
        <p:nvSpPr>
          <p:cNvPr id="19" name="Forecast step Prophet"/>
          <p:cNvSpPr/>
          <p:nvPr/>
        </p:nvSpPr>
        <p:spPr>
          <a:xfrm>
            <a:off x="5449824" y="1325880"/>
            <a:ext cx="1517904" cy="2377440"/>
          </a:xfrm>
          <a:prstGeom prst="roundRect">
            <a:avLst>
              <a:gd name="adj" fmla="val 7229"/>
            </a:avLst>
          </a:prstGeom>
          <a:solidFill>
            <a:schemeClr val="bg2"/>
          </a:solidFill>
          <a:ln w="12700">
            <a:solidFill>
              <a:schemeClr val="bg2"/>
            </a:solidFill>
            <a:prstDash val="solid"/>
          </a:ln>
        </p:spPr>
      </p:sp>
      <p:sp>
        <p:nvSpPr>
          <p:cNvPr id="20" name="Forecast number 4"/>
          <p:cNvSpPr/>
          <p:nvPr/>
        </p:nvSpPr>
        <p:spPr>
          <a:xfrm>
            <a:off x="5586984" y="1463040"/>
            <a:ext cx="411480" cy="411480"/>
          </a:xfrm>
          <a:prstGeom prst="ellipse">
            <a:avLst/>
          </a:prstGeom>
          <a:solidFill>
            <a:schemeClr val="accent1"/>
          </a:solidFill>
          <a:ln w="12700">
            <a:solidFill>
              <a:schemeClr val="accent1"/>
            </a:solidFill>
            <a:prstDash val="solid"/>
          </a:ln>
        </p:spPr>
      </p:sp>
      <p:sp>
        <p:nvSpPr>
          <p:cNvPr id="21" name="Text 18"/>
          <p:cNvSpPr txBox="1"/>
          <p:nvPr/>
        </p:nvSpPr>
        <p:spPr>
          <a:xfrm>
            <a:off x="5586984" y="146304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2" name="Text 19"/>
          <p:cNvSpPr txBox="1"/>
          <p:nvPr/>
        </p:nvSpPr>
        <p:spPr>
          <a:xfrm>
            <a:off x="5586984" y="2011680"/>
            <a:ext cx="1280160" cy="320040"/>
          </a:xfrm>
          <a:prstGeom prst="rect">
            <a:avLst/>
          </a:prstGeom>
          <a:noFill/>
          <a:ln/>
        </p:spPr>
        <p:txBody>
          <a:bodyPr wrap="square" lIns="0" tIns="0" rIns="0" bIns="0" rtlCol="0" anchor="t"/>
          <a:lstStyle/>
          <a:p>
            <a:pPr indent="0" marL="0">
              <a:buNone/>
            </a:pPr>
            <a:r>
              <a:rPr lang="en-US" sz="1400" b="1" dirty="0">
                <a:solidFill>
                  <a:schemeClr val="tx1"/>
                </a:solidFill>
              </a:rPr>
              <a:t>Prophet</a:t>
            </a:r>
            <a:endParaRPr lang="en-US" sz="1400" dirty="0"/>
          </a:p>
        </p:txBody>
      </p:sp>
      <p:sp>
        <p:nvSpPr>
          <p:cNvPr id="23" name="Text 20"/>
          <p:cNvSpPr txBox="1"/>
          <p:nvPr/>
        </p:nvSpPr>
        <p:spPr>
          <a:xfrm>
            <a:off x="5586984" y="2377440"/>
            <a:ext cx="1280160" cy="1280160"/>
          </a:xfrm>
          <a:prstGeom prst="rect">
            <a:avLst/>
          </a:prstGeom>
          <a:noFill/>
          <a:ln/>
        </p:spPr>
        <p:txBody>
          <a:bodyPr wrap="square" lIns="0" tIns="0" rIns="0" bIns="0" rtlCol="0" anchor="t"/>
          <a:lstStyle/>
          <a:p>
            <a:pPr indent="0" marL="0">
              <a:buNone/>
            </a:pPr>
            <a:r>
              <a:rPr lang="en-US" sz="1400" dirty="0">
                <a:solidFill>
                  <a:schemeClr val="accent4"/>
                </a:solidFill>
              </a:rPr>
              <a:t>Handles weekly cycles and holidays</a:t>
            </a:r>
            <a:endParaRPr lang="en-US" sz="1400" dirty="0"/>
          </a:p>
        </p:txBody>
      </p:sp>
      <p:sp>
        <p:nvSpPr>
          <p:cNvPr id="24" name="Forecast step Compare"/>
          <p:cNvSpPr/>
          <p:nvPr/>
        </p:nvSpPr>
        <p:spPr>
          <a:xfrm>
            <a:off x="7114032" y="1325880"/>
            <a:ext cx="1517904" cy="2377440"/>
          </a:xfrm>
          <a:prstGeom prst="roundRect">
            <a:avLst>
              <a:gd name="adj" fmla="val 7229"/>
            </a:avLst>
          </a:prstGeom>
          <a:solidFill>
            <a:schemeClr val="bg2"/>
          </a:solidFill>
          <a:ln w="12700">
            <a:solidFill>
              <a:schemeClr val="bg2"/>
            </a:solidFill>
            <a:prstDash val="solid"/>
          </a:ln>
        </p:spPr>
      </p:sp>
      <p:sp>
        <p:nvSpPr>
          <p:cNvPr id="25" name="Forecast number 5"/>
          <p:cNvSpPr/>
          <p:nvPr/>
        </p:nvSpPr>
        <p:spPr>
          <a:xfrm>
            <a:off x="7251192" y="1463040"/>
            <a:ext cx="411480" cy="411480"/>
          </a:xfrm>
          <a:prstGeom prst="ellipse">
            <a:avLst/>
          </a:prstGeom>
          <a:solidFill>
            <a:schemeClr val="accent1"/>
          </a:solidFill>
          <a:ln w="12700">
            <a:solidFill>
              <a:schemeClr val="accent1"/>
            </a:solidFill>
            <a:prstDash val="solid"/>
          </a:ln>
        </p:spPr>
      </p:sp>
      <p:sp>
        <p:nvSpPr>
          <p:cNvPr id="26" name="Text 23"/>
          <p:cNvSpPr txBox="1"/>
          <p:nvPr/>
        </p:nvSpPr>
        <p:spPr>
          <a:xfrm>
            <a:off x="7251192" y="146304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7" name="Text 24"/>
          <p:cNvSpPr txBox="1"/>
          <p:nvPr/>
        </p:nvSpPr>
        <p:spPr>
          <a:xfrm>
            <a:off x="7251192" y="2011680"/>
            <a:ext cx="1280160" cy="320040"/>
          </a:xfrm>
          <a:prstGeom prst="rect">
            <a:avLst/>
          </a:prstGeom>
          <a:noFill/>
          <a:ln/>
        </p:spPr>
        <p:txBody>
          <a:bodyPr wrap="square" lIns="0" tIns="0" rIns="0" bIns="0" rtlCol="0" anchor="t"/>
          <a:lstStyle/>
          <a:p>
            <a:pPr indent="0" marL="0">
              <a:buNone/>
            </a:pPr>
            <a:r>
              <a:rPr lang="en-US" sz="1400" b="1" dirty="0">
                <a:solidFill>
                  <a:schemeClr val="tx1"/>
                </a:solidFill>
              </a:rPr>
              <a:t>Compare</a:t>
            </a:r>
            <a:endParaRPr lang="en-US" sz="1400" dirty="0"/>
          </a:p>
        </p:txBody>
      </p:sp>
      <p:sp>
        <p:nvSpPr>
          <p:cNvPr id="28" name="Text 25"/>
          <p:cNvSpPr txBox="1"/>
          <p:nvPr/>
        </p:nvSpPr>
        <p:spPr>
          <a:xfrm>
            <a:off x="7251192" y="2377440"/>
            <a:ext cx="1280160" cy="1280160"/>
          </a:xfrm>
          <a:prstGeom prst="rect">
            <a:avLst/>
          </a:prstGeom>
          <a:noFill/>
          <a:ln/>
        </p:spPr>
        <p:txBody>
          <a:bodyPr wrap="square" lIns="0" tIns="0" rIns="0" bIns="0" rtlCol="0" anchor="t"/>
          <a:lstStyle/>
          <a:p>
            <a:pPr indent="0" marL="0">
              <a:buNone/>
            </a:pPr>
            <a:r>
              <a:rPr lang="en-US" sz="1400" dirty="0">
                <a:solidFill>
                  <a:schemeClr val="accent4"/>
                </a:solidFill>
              </a:rPr>
              <a:t>Score both on one hold-out window</a:t>
            </a:r>
            <a:endParaRPr lang="en-US" sz="1400" dirty="0"/>
          </a:p>
        </p:txBody>
      </p:sp>
      <p:sp>
        <p:nvSpPr>
          <p:cNvPr id="29" name="Forecast takeaway"/>
          <p:cNvSpPr/>
          <p:nvPr/>
        </p:nvSpPr>
        <p:spPr>
          <a:xfrm>
            <a:off x="457200" y="3931920"/>
            <a:ext cx="8229600" cy="640080"/>
          </a:xfrm>
          <a:prstGeom prst="roundRect">
            <a:avLst>
              <a:gd name="adj" fmla="val 17143"/>
            </a:avLst>
          </a:prstGeom>
          <a:solidFill>
            <a:schemeClr val="accent6"/>
          </a:solidFill>
          <a:ln w="12700">
            <a:solidFill>
              <a:schemeClr val="accent6"/>
            </a:solidFill>
            <a:prstDash val="solid"/>
          </a:ln>
        </p:spPr>
      </p:sp>
      <p:sp>
        <p:nvSpPr>
          <p:cNvPr id="30" name="Text 27"/>
          <p:cNvSpPr txBox="1"/>
          <p:nvPr/>
        </p:nvSpPr>
        <p:spPr>
          <a:xfrm>
            <a:off x="685800" y="3931920"/>
            <a:ext cx="7772400" cy="640080"/>
          </a:xfrm>
          <a:prstGeom prst="rect">
            <a:avLst/>
          </a:prstGeom>
          <a:noFill/>
          <a:ln/>
        </p:spPr>
        <p:txBody>
          <a:bodyPr wrap="square" lIns="0" tIns="0" rIns="0" bIns="0" rtlCol="0" anchor="ctr"/>
          <a:lstStyle/>
          <a:p>
            <a:pPr indent="0" marL="0">
              <a:buNone/>
            </a:pPr>
            <a:r>
              <a:rPr lang="en-US" sz="1400" b="1" dirty="0">
                <a:solidFill>
                  <a:schemeClr val="accent5"/>
                </a:solidFill>
              </a:rPr>
              <a:t>Same hold-out window and same error metrics for both models, so the winner is judged fairly.</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Business Impact</a:t>
            </a:r>
            <a:endParaRPr lang="en-US" sz="3200" dirty="0"/>
          </a:p>
        </p:txBody>
      </p:sp>
      <p:sp>
        <p:nvSpPr>
          <p:cNvPr id="4" name="Impact card Targeted marketing"/>
          <p:cNvSpPr/>
          <p:nvPr/>
        </p:nvSpPr>
        <p:spPr>
          <a:xfrm>
            <a:off x="457200" y="1188720"/>
            <a:ext cx="3977640" cy="1554480"/>
          </a:xfrm>
          <a:prstGeom prst="roundRect">
            <a:avLst>
              <a:gd name="adj" fmla="val 7059"/>
            </a:avLst>
          </a:prstGeom>
          <a:solidFill>
            <a:schemeClr val="bg2"/>
          </a:solidFill>
          <a:ln w="12700">
            <a:solidFill>
              <a:schemeClr val="bg2"/>
            </a:solidFill>
            <a:prstDash val="solid"/>
          </a:ln>
        </p:spPr>
      </p:sp>
      <p:sp>
        <p:nvSpPr>
          <p:cNvPr id="5" name="Icon circle bullseye"/>
          <p:cNvSpPr/>
          <p:nvPr/>
        </p:nvSpPr>
        <p:spPr>
          <a:xfrm>
            <a:off x="640080" y="1371600"/>
            <a:ext cx="457200" cy="457200"/>
          </a:xfrm>
          <a:prstGeom prst="ellipse">
            <a:avLst/>
          </a:prstGeom>
          <a:solidFill>
            <a:schemeClr val="accent1"/>
          </a:solidFill>
          <a:ln w="12700">
            <a:solidFill>
              <a:schemeClr val="accent1"/>
            </a:solidFill>
            <a:prstDash val="solid"/>
          </a:ln>
        </p:spPr>
      </p:sp>
      <p:pic>
        <p:nvPicPr>
          <p:cNvPr id="6" name="Image 0" descr="bullseye icon">    </p:cNvPr>
          <p:cNvPicPr>
            <a:picLocks noChangeAspect="1"/>
          </p:cNvPicPr>
          <p:nvPr/>
        </p:nvPicPr>
        <p:blipFill>
          <a:blip r:embed="rId1"/>
          <a:stretch>
            <a:fillRect/>
          </a:stretch>
        </p:blipFill>
        <p:spPr>
          <a:xfrm>
            <a:off x="754380" y="1485900"/>
            <a:ext cx="228600" cy="228600"/>
          </a:xfrm>
          <a:prstGeom prst="rect">
            <a:avLst/>
          </a:prstGeom>
        </p:spPr>
      </p:pic>
      <p:sp>
        <p:nvSpPr>
          <p:cNvPr id="7" name="Text 3"/>
          <p:cNvSpPr txBox="1"/>
          <p:nvPr/>
        </p:nvSpPr>
        <p:spPr>
          <a:xfrm>
            <a:off x="1280160" y="1371600"/>
            <a:ext cx="3017520" cy="457200"/>
          </a:xfrm>
          <a:prstGeom prst="rect">
            <a:avLst/>
          </a:prstGeom>
          <a:noFill/>
          <a:ln/>
        </p:spPr>
        <p:txBody>
          <a:bodyPr wrap="square" lIns="0" tIns="0" rIns="0" bIns="0" rtlCol="0" anchor="ctr"/>
          <a:lstStyle/>
          <a:p>
            <a:pPr indent="0" marL="0">
              <a:buNone/>
            </a:pPr>
            <a:r>
              <a:rPr lang="en-US" sz="1800" b="1" dirty="0">
                <a:solidFill>
                  <a:schemeClr val="tx1"/>
                </a:solidFill>
              </a:rPr>
              <a:t>Targeted marketing</a:t>
            </a:r>
            <a:endParaRPr lang="en-US" sz="1800" dirty="0"/>
          </a:p>
        </p:txBody>
      </p:sp>
      <p:sp>
        <p:nvSpPr>
          <p:cNvPr id="8" name="Text 4"/>
          <p:cNvSpPr txBox="1"/>
          <p:nvPr/>
        </p:nvSpPr>
        <p:spPr>
          <a:xfrm>
            <a:off x="640080" y="1965960"/>
            <a:ext cx="3611880" cy="731520"/>
          </a:xfrm>
          <a:prstGeom prst="rect">
            <a:avLst/>
          </a:prstGeom>
          <a:noFill/>
          <a:ln/>
        </p:spPr>
        <p:txBody>
          <a:bodyPr wrap="square" lIns="0" tIns="0" rIns="0" bIns="0" rtlCol="0" anchor="t"/>
          <a:lstStyle/>
          <a:p>
            <a:pPr indent="0" marL="0">
              <a:buNone/>
            </a:pPr>
            <a:r>
              <a:rPr lang="en-US" sz="1400" dirty="0">
                <a:solidFill>
                  <a:schemeClr val="tx1"/>
                </a:solidFill>
              </a:rPr>
              <a:t>Segments tell us who gets which offer, from loyalty perks to win-back deals.</a:t>
            </a:r>
            <a:endParaRPr lang="en-US" sz="1400" dirty="0"/>
          </a:p>
        </p:txBody>
      </p:sp>
      <p:sp>
        <p:nvSpPr>
          <p:cNvPr id="9" name="Impact card Service recovery"/>
          <p:cNvSpPr/>
          <p:nvPr/>
        </p:nvSpPr>
        <p:spPr>
          <a:xfrm>
            <a:off x="4709160" y="1188720"/>
            <a:ext cx="3977640" cy="1554480"/>
          </a:xfrm>
          <a:prstGeom prst="roundRect">
            <a:avLst>
              <a:gd name="adj" fmla="val 7059"/>
            </a:avLst>
          </a:prstGeom>
          <a:solidFill>
            <a:schemeClr val="bg2"/>
          </a:solidFill>
          <a:ln w="12700">
            <a:solidFill>
              <a:schemeClr val="bg2"/>
            </a:solidFill>
            <a:prstDash val="solid"/>
          </a:ln>
        </p:spPr>
      </p:sp>
      <p:sp>
        <p:nvSpPr>
          <p:cNvPr id="10" name="Icon circle headset"/>
          <p:cNvSpPr/>
          <p:nvPr/>
        </p:nvSpPr>
        <p:spPr>
          <a:xfrm>
            <a:off x="4892040" y="1371600"/>
            <a:ext cx="457200" cy="457200"/>
          </a:xfrm>
          <a:prstGeom prst="ellipse">
            <a:avLst/>
          </a:prstGeom>
          <a:solidFill>
            <a:schemeClr val="accent1"/>
          </a:solidFill>
          <a:ln w="12700">
            <a:solidFill>
              <a:schemeClr val="accent1"/>
            </a:solidFill>
            <a:prstDash val="solid"/>
          </a:ln>
        </p:spPr>
      </p:sp>
      <p:pic>
        <p:nvPicPr>
          <p:cNvPr id="11" name="Image 1" descr="headset icon">    </p:cNvPr>
          <p:cNvPicPr>
            <a:picLocks noChangeAspect="1"/>
          </p:cNvPicPr>
          <p:nvPr/>
        </p:nvPicPr>
        <p:blipFill>
          <a:blip r:embed="rId2"/>
          <a:stretch>
            <a:fillRect/>
          </a:stretch>
        </p:blipFill>
        <p:spPr>
          <a:xfrm>
            <a:off x="5006340" y="1485900"/>
            <a:ext cx="228600" cy="228600"/>
          </a:xfrm>
          <a:prstGeom prst="rect">
            <a:avLst/>
          </a:prstGeom>
        </p:spPr>
      </p:pic>
      <p:sp>
        <p:nvSpPr>
          <p:cNvPr id="12" name="Text 7"/>
          <p:cNvSpPr txBox="1"/>
          <p:nvPr/>
        </p:nvSpPr>
        <p:spPr>
          <a:xfrm>
            <a:off x="5532120" y="1371600"/>
            <a:ext cx="3017520" cy="457200"/>
          </a:xfrm>
          <a:prstGeom prst="rect">
            <a:avLst/>
          </a:prstGeom>
          <a:noFill/>
          <a:ln/>
        </p:spPr>
        <p:txBody>
          <a:bodyPr wrap="square" lIns="0" tIns="0" rIns="0" bIns="0" rtlCol="0" anchor="ctr"/>
          <a:lstStyle/>
          <a:p>
            <a:pPr indent="0" marL="0">
              <a:buNone/>
            </a:pPr>
            <a:r>
              <a:rPr lang="en-US" sz="1800" b="1" dirty="0">
                <a:solidFill>
                  <a:schemeClr val="tx1"/>
                </a:solidFill>
              </a:rPr>
              <a:t>Service recovery</a:t>
            </a:r>
            <a:endParaRPr lang="en-US" sz="1800" dirty="0"/>
          </a:p>
        </p:txBody>
      </p:sp>
      <p:sp>
        <p:nvSpPr>
          <p:cNvPr id="13" name="Text 8"/>
          <p:cNvSpPr txBox="1"/>
          <p:nvPr/>
        </p:nvSpPr>
        <p:spPr>
          <a:xfrm>
            <a:off x="4892040" y="1965960"/>
            <a:ext cx="3611880" cy="731520"/>
          </a:xfrm>
          <a:prstGeom prst="rect">
            <a:avLst/>
          </a:prstGeom>
          <a:noFill/>
          <a:ln/>
        </p:spPr>
        <p:txBody>
          <a:bodyPr wrap="square" lIns="0" tIns="0" rIns="0" bIns="0" rtlCol="0" anchor="t"/>
          <a:lstStyle/>
          <a:p>
            <a:pPr indent="0" marL="0">
              <a:buNone/>
            </a:pPr>
            <a:r>
              <a:rPr lang="en-US" sz="1400" dirty="0">
                <a:solidFill>
                  <a:schemeClr val="tx1"/>
                </a:solidFill>
              </a:rPr>
              <a:t>Flag negative reviews fast and fix issues for the 6% who are unhappy.</a:t>
            </a:r>
            <a:endParaRPr lang="en-US" sz="1400" dirty="0"/>
          </a:p>
        </p:txBody>
      </p:sp>
      <p:sp>
        <p:nvSpPr>
          <p:cNvPr id="14" name="Impact card Honest ETAs"/>
          <p:cNvSpPr/>
          <p:nvPr/>
        </p:nvSpPr>
        <p:spPr>
          <a:xfrm>
            <a:off x="457200" y="2926080"/>
            <a:ext cx="3977640" cy="1554480"/>
          </a:xfrm>
          <a:prstGeom prst="roundRect">
            <a:avLst>
              <a:gd name="adj" fmla="val 7059"/>
            </a:avLst>
          </a:prstGeom>
          <a:solidFill>
            <a:schemeClr val="bg2"/>
          </a:solidFill>
          <a:ln w="12700">
            <a:solidFill>
              <a:schemeClr val="bg2"/>
            </a:solidFill>
            <a:prstDash val="solid"/>
          </a:ln>
        </p:spPr>
      </p:sp>
      <p:sp>
        <p:nvSpPr>
          <p:cNvPr id="15" name="Icon circle clock"/>
          <p:cNvSpPr/>
          <p:nvPr/>
        </p:nvSpPr>
        <p:spPr>
          <a:xfrm>
            <a:off x="640080" y="3108960"/>
            <a:ext cx="457200" cy="457200"/>
          </a:xfrm>
          <a:prstGeom prst="ellipse">
            <a:avLst/>
          </a:prstGeom>
          <a:solidFill>
            <a:schemeClr val="accent1"/>
          </a:solidFill>
          <a:ln w="12700">
            <a:solidFill>
              <a:schemeClr val="accent1"/>
            </a:solidFill>
            <a:prstDash val="solid"/>
          </a:ln>
        </p:spPr>
      </p:sp>
      <p:pic>
        <p:nvPicPr>
          <p:cNvPr id="16" name="Image 2" descr="clock icon">    </p:cNvPr>
          <p:cNvPicPr>
            <a:picLocks noChangeAspect="1"/>
          </p:cNvPicPr>
          <p:nvPr/>
        </p:nvPicPr>
        <p:blipFill>
          <a:blip r:embed="rId3"/>
          <a:stretch>
            <a:fillRect/>
          </a:stretch>
        </p:blipFill>
        <p:spPr>
          <a:xfrm>
            <a:off x="754380" y="3223260"/>
            <a:ext cx="228600" cy="228600"/>
          </a:xfrm>
          <a:prstGeom prst="rect">
            <a:avLst/>
          </a:prstGeom>
        </p:spPr>
      </p:pic>
      <p:sp>
        <p:nvSpPr>
          <p:cNvPr id="17" name="Text 11"/>
          <p:cNvSpPr txBox="1"/>
          <p:nvPr/>
        </p:nvSpPr>
        <p:spPr>
          <a:xfrm>
            <a:off x="1280160" y="3108960"/>
            <a:ext cx="3017520" cy="457200"/>
          </a:xfrm>
          <a:prstGeom prst="rect">
            <a:avLst/>
          </a:prstGeom>
          <a:noFill/>
          <a:ln/>
        </p:spPr>
        <p:txBody>
          <a:bodyPr wrap="square" lIns="0" tIns="0" rIns="0" bIns="0" rtlCol="0" anchor="ctr"/>
          <a:lstStyle/>
          <a:p>
            <a:pPr indent="0" marL="0">
              <a:buNone/>
            </a:pPr>
            <a:r>
              <a:rPr lang="en-US" sz="1800" b="1" dirty="0">
                <a:solidFill>
                  <a:schemeClr val="tx1"/>
                </a:solidFill>
              </a:rPr>
              <a:t>Honest ETAs</a:t>
            </a:r>
            <a:endParaRPr lang="en-US" sz="1800" dirty="0"/>
          </a:p>
        </p:txBody>
      </p:sp>
      <p:sp>
        <p:nvSpPr>
          <p:cNvPr id="18" name="Text 12"/>
          <p:cNvSpPr txBox="1"/>
          <p:nvPr/>
        </p:nvSpPr>
        <p:spPr>
          <a:xfrm>
            <a:off x="640080" y="3703320"/>
            <a:ext cx="3611880" cy="731520"/>
          </a:xfrm>
          <a:prstGeom prst="rect">
            <a:avLst/>
          </a:prstGeom>
          <a:noFill/>
          <a:ln/>
        </p:spPr>
        <p:txBody>
          <a:bodyPr wrap="square" lIns="0" tIns="0" rIns="0" bIns="0" rtlCol="0" anchor="t"/>
          <a:lstStyle/>
          <a:p>
            <a:pPr indent="0" marL="0">
              <a:buNone/>
            </a:pPr>
            <a:r>
              <a:rPr lang="en-US" sz="1400" dirty="0">
                <a:solidFill>
                  <a:schemeClr val="tx1"/>
                </a:solidFill>
              </a:rPr>
              <a:t>Better delivery-time predictions set realistic promises and cut cancellations.</a:t>
            </a:r>
            <a:endParaRPr lang="en-US" sz="1400" dirty="0"/>
          </a:p>
        </p:txBody>
      </p:sp>
      <p:sp>
        <p:nvSpPr>
          <p:cNvPr id="19" name="Impact card Capacity planning"/>
          <p:cNvSpPr/>
          <p:nvPr/>
        </p:nvSpPr>
        <p:spPr>
          <a:xfrm>
            <a:off x="4709160" y="2926080"/>
            <a:ext cx="3977640" cy="1554480"/>
          </a:xfrm>
          <a:prstGeom prst="roundRect">
            <a:avLst>
              <a:gd name="adj" fmla="val 7059"/>
            </a:avLst>
          </a:prstGeom>
          <a:solidFill>
            <a:schemeClr val="bg2"/>
          </a:solidFill>
          <a:ln w="12700">
            <a:solidFill>
              <a:schemeClr val="bg2"/>
            </a:solidFill>
            <a:prstDash val="solid"/>
          </a:ln>
        </p:spPr>
      </p:sp>
      <p:sp>
        <p:nvSpPr>
          <p:cNvPr id="20" name="Icon circle box"/>
          <p:cNvSpPr/>
          <p:nvPr/>
        </p:nvSpPr>
        <p:spPr>
          <a:xfrm>
            <a:off x="4892040" y="3108960"/>
            <a:ext cx="457200" cy="457200"/>
          </a:xfrm>
          <a:prstGeom prst="ellipse">
            <a:avLst/>
          </a:prstGeom>
          <a:solidFill>
            <a:schemeClr val="accent1"/>
          </a:solidFill>
          <a:ln w="12700">
            <a:solidFill>
              <a:schemeClr val="accent1"/>
            </a:solidFill>
            <a:prstDash val="solid"/>
          </a:ln>
        </p:spPr>
      </p:sp>
      <p:pic>
        <p:nvPicPr>
          <p:cNvPr id="21" name="Image 3" descr="box icon">    </p:cNvPr>
          <p:cNvPicPr>
            <a:picLocks noChangeAspect="1"/>
          </p:cNvPicPr>
          <p:nvPr/>
        </p:nvPicPr>
        <p:blipFill>
          <a:blip r:embed="rId4"/>
          <a:stretch>
            <a:fillRect/>
          </a:stretch>
        </p:blipFill>
        <p:spPr>
          <a:xfrm>
            <a:off x="5006340" y="3223260"/>
            <a:ext cx="228600" cy="228600"/>
          </a:xfrm>
          <a:prstGeom prst="rect">
            <a:avLst/>
          </a:prstGeom>
        </p:spPr>
      </p:pic>
      <p:sp>
        <p:nvSpPr>
          <p:cNvPr id="22" name="Text 15"/>
          <p:cNvSpPr txBox="1"/>
          <p:nvPr/>
        </p:nvSpPr>
        <p:spPr>
          <a:xfrm>
            <a:off x="5532120" y="3108960"/>
            <a:ext cx="3017520" cy="457200"/>
          </a:xfrm>
          <a:prstGeom prst="rect">
            <a:avLst/>
          </a:prstGeom>
          <a:noFill/>
          <a:ln/>
        </p:spPr>
        <p:txBody>
          <a:bodyPr wrap="square" lIns="0" tIns="0" rIns="0" bIns="0" rtlCol="0" anchor="ctr"/>
          <a:lstStyle/>
          <a:p>
            <a:pPr indent="0" marL="0">
              <a:buNone/>
            </a:pPr>
            <a:r>
              <a:rPr lang="en-US" sz="1800" b="1" dirty="0">
                <a:solidFill>
                  <a:schemeClr val="tx1"/>
                </a:solidFill>
              </a:rPr>
              <a:t>Capacity planning</a:t>
            </a:r>
            <a:endParaRPr lang="en-US" sz="1800" dirty="0"/>
          </a:p>
        </p:txBody>
      </p:sp>
      <p:sp>
        <p:nvSpPr>
          <p:cNvPr id="23" name="Text 16"/>
          <p:cNvSpPr txBox="1"/>
          <p:nvPr/>
        </p:nvSpPr>
        <p:spPr>
          <a:xfrm>
            <a:off x="4892040" y="3703320"/>
            <a:ext cx="3611880" cy="731520"/>
          </a:xfrm>
          <a:prstGeom prst="rect">
            <a:avLst/>
          </a:prstGeom>
          <a:noFill/>
          <a:ln/>
        </p:spPr>
        <p:txBody>
          <a:bodyPr wrap="square" lIns="0" tIns="0" rIns="0" bIns="0" rtlCol="0" anchor="t"/>
          <a:lstStyle/>
          <a:p>
            <a:pPr indent="0" marL="0">
              <a:buNone/>
            </a:pPr>
            <a:r>
              <a:rPr lang="en-US" sz="1400" dirty="0">
                <a:solidFill>
                  <a:schemeClr val="tx1"/>
                </a:solidFill>
              </a:rPr>
              <a:t>Demand forecasts help schedule riders and restaurant prep before peaks.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Limitations</a:t>
            </a:r>
            <a:endParaRPr lang="en-US" sz="3200" dirty="0"/>
          </a:p>
        </p:txBody>
      </p:sp>
      <p:sp>
        <p:nvSpPr>
          <p:cNvPr id="4" name="Limitation row 1"/>
          <p:cNvSpPr/>
          <p:nvPr/>
        </p:nvSpPr>
        <p:spPr>
          <a:xfrm>
            <a:off x="457200" y="1143000"/>
            <a:ext cx="8229600" cy="594360"/>
          </a:xfrm>
          <a:prstGeom prst="roundRect">
            <a:avLst>
              <a:gd name="adj" fmla="val 18462"/>
            </a:avLst>
          </a:prstGeom>
          <a:solidFill>
            <a:schemeClr val="bg2"/>
          </a:solidFill>
          <a:ln w="12700">
            <a:solidFill>
              <a:schemeClr val="bg2"/>
            </a:solidFill>
            <a:prstDash val="solid"/>
          </a:ln>
        </p:spPr>
      </p:sp>
      <p:sp>
        <p:nvSpPr>
          <p:cNvPr id="5" name="Icon circle warn"/>
          <p:cNvSpPr/>
          <p:nvPr/>
        </p:nvSpPr>
        <p:spPr>
          <a:xfrm>
            <a:off x="594360" y="1234440"/>
            <a:ext cx="411480" cy="411480"/>
          </a:xfrm>
          <a:prstGeom prst="ellipse">
            <a:avLst/>
          </a:prstGeom>
          <a:solidFill>
            <a:schemeClr val="accent3"/>
          </a:solidFill>
          <a:ln w="12700">
            <a:solidFill>
              <a:schemeClr val="accent3"/>
            </a:solidFill>
            <a:prstDash val="solid"/>
          </a:ln>
        </p:spPr>
      </p:sp>
      <p:pic>
        <p:nvPicPr>
          <p:cNvPr id="6" name="Image 0" descr="warn icon">    </p:cNvPr>
          <p:cNvPicPr>
            <a:picLocks noChangeAspect="1"/>
          </p:cNvPicPr>
          <p:nvPr/>
        </p:nvPicPr>
        <p:blipFill>
          <a:blip r:embed="rId1"/>
          <a:stretch>
            <a:fillRect/>
          </a:stretch>
        </p:blipFill>
        <p:spPr>
          <a:xfrm>
            <a:off x="697230" y="1337310"/>
            <a:ext cx="205740" cy="205740"/>
          </a:xfrm>
          <a:prstGeom prst="rect">
            <a:avLst/>
          </a:prstGeom>
        </p:spPr>
      </p:pic>
      <p:sp>
        <p:nvSpPr>
          <p:cNvPr id="7" name="Text 3"/>
          <p:cNvSpPr txBox="1"/>
          <p:nvPr/>
        </p:nvSpPr>
        <p:spPr>
          <a:xfrm>
            <a:off x="1188720" y="1143000"/>
            <a:ext cx="2286000" cy="594360"/>
          </a:xfrm>
          <a:prstGeom prst="rect">
            <a:avLst/>
          </a:prstGeom>
          <a:noFill/>
          <a:ln/>
        </p:spPr>
        <p:txBody>
          <a:bodyPr wrap="square" lIns="0" tIns="0" rIns="0" bIns="0" rtlCol="0" anchor="ctr"/>
          <a:lstStyle/>
          <a:p>
            <a:pPr indent="0" marL="0">
              <a:buNone/>
            </a:pPr>
            <a:r>
              <a:rPr lang="en-US" sz="1600" b="1" dirty="0">
                <a:solidFill>
                  <a:schemeClr val="tx1"/>
                </a:solidFill>
              </a:rPr>
              <a:t>Zero delivery error</a:t>
            </a:r>
            <a:endParaRPr lang="en-US" sz="1600" dirty="0"/>
          </a:p>
        </p:txBody>
      </p:sp>
      <p:sp>
        <p:nvSpPr>
          <p:cNvPr id="8" name="Text 4"/>
          <p:cNvSpPr txBox="1"/>
          <p:nvPr/>
        </p:nvSpPr>
        <p:spPr>
          <a:xfrm>
            <a:off x="3474720" y="1143000"/>
            <a:ext cx="5074920" cy="594360"/>
          </a:xfrm>
          <a:prstGeom prst="rect">
            <a:avLst/>
          </a:prstGeom>
          <a:noFill/>
          <a:ln/>
        </p:spPr>
        <p:txBody>
          <a:bodyPr wrap="square" lIns="0" tIns="0" rIns="0" bIns="0" rtlCol="0" anchor="ctr"/>
          <a:lstStyle/>
          <a:p>
            <a:pPr indent="0" marL="0">
              <a:buNone/>
            </a:pPr>
            <a:r>
              <a:rPr lang="en-US" sz="1400" dirty="0">
                <a:solidFill>
                  <a:schemeClr val="tx1"/>
                </a:solidFill>
              </a:rPr>
              <a:t>MAE and RMSE of 0.0 point to leakage or copied columns.</a:t>
            </a:r>
            <a:endParaRPr lang="en-US" sz="1400" dirty="0"/>
          </a:p>
        </p:txBody>
      </p:sp>
      <p:sp>
        <p:nvSpPr>
          <p:cNvPr id="9" name="Limitation row 2"/>
          <p:cNvSpPr/>
          <p:nvPr/>
        </p:nvSpPr>
        <p:spPr>
          <a:xfrm>
            <a:off x="457200" y="1847088"/>
            <a:ext cx="8229600" cy="594360"/>
          </a:xfrm>
          <a:prstGeom prst="roundRect">
            <a:avLst>
              <a:gd name="adj" fmla="val 18462"/>
            </a:avLst>
          </a:prstGeom>
          <a:solidFill>
            <a:schemeClr val="bg2"/>
          </a:solidFill>
          <a:ln w="12700">
            <a:solidFill>
              <a:schemeClr val="bg2"/>
            </a:solidFill>
            <a:prstDash val="solid"/>
          </a:ln>
        </p:spPr>
      </p:sp>
      <p:sp>
        <p:nvSpPr>
          <p:cNvPr id="10" name="Icon circle warn"/>
          <p:cNvSpPr/>
          <p:nvPr/>
        </p:nvSpPr>
        <p:spPr>
          <a:xfrm>
            <a:off x="594360" y="1938528"/>
            <a:ext cx="411480" cy="411480"/>
          </a:xfrm>
          <a:prstGeom prst="ellipse">
            <a:avLst/>
          </a:prstGeom>
          <a:solidFill>
            <a:schemeClr val="accent2"/>
          </a:solidFill>
          <a:ln w="12700">
            <a:solidFill>
              <a:schemeClr val="accent2"/>
            </a:solidFill>
            <a:prstDash val="solid"/>
          </a:ln>
        </p:spPr>
      </p:sp>
      <p:pic>
        <p:nvPicPr>
          <p:cNvPr id="11" name="Image 1" descr="warn icon">    </p:cNvPr>
          <p:cNvPicPr>
            <a:picLocks noChangeAspect="1"/>
          </p:cNvPicPr>
          <p:nvPr/>
        </p:nvPicPr>
        <p:blipFill>
          <a:blip r:embed="rId2"/>
          <a:stretch>
            <a:fillRect/>
          </a:stretch>
        </p:blipFill>
        <p:spPr>
          <a:xfrm>
            <a:off x="697230" y="2041398"/>
            <a:ext cx="205740" cy="205740"/>
          </a:xfrm>
          <a:prstGeom prst="rect">
            <a:avLst/>
          </a:prstGeom>
        </p:spPr>
      </p:pic>
      <p:sp>
        <p:nvSpPr>
          <p:cNvPr id="12" name="Text 7"/>
          <p:cNvSpPr txBox="1"/>
          <p:nvPr/>
        </p:nvSpPr>
        <p:spPr>
          <a:xfrm>
            <a:off x="1188720" y="1847088"/>
            <a:ext cx="2286000" cy="594360"/>
          </a:xfrm>
          <a:prstGeom prst="rect">
            <a:avLst/>
          </a:prstGeom>
          <a:noFill/>
          <a:ln/>
        </p:spPr>
        <p:txBody>
          <a:bodyPr wrap="square" lIns="0" tIns="0" rIns="0" bIns="0" rtlCol="0" anchor="ctr"/>
          <a:lstStyle/>
          <a:p>
            <a:pPr indent="0" marL="0">
              <a:buNone/>
            </a:pPr>
            <a:r>
              <a:rPr lang="en-US" sz="1600" b="1" dirty="0">
                <a:solidFill>
                  <a:schemeClr val="tx1"/>
                </a:solidFill>
              </a:rPr>
              <a:t>Missing data</a:t>
            </a:r>
            <a:endParaRPr lang="en-US" sz="1600" dirty="0"/>
          </a:p>
        </p:txBody>
      </p:sp>
      <p:sp>
        <p:nvSpPr>
          <p:cNvPr id="13" name="Text 8"/>
          <p:cNvSpPr txBox="1"/>
          <p:nvPr/>
        </p:nvSpPr>
        <p:spPr>
          <a:xfrm>
            <a:off x="3474720" y="1847088"/>
            <a:ext cx="5074920" cy="594360"/>
          </a:xfrm>
          <a:prstGeom prst="rect">
            <a:avLst/>
          </a:prstGeom>
          <a:noFill/>
          <a:ln/>
        </p:spPr>
        <p:txBody>
          <a:bodyPr wrap="square" lIns="0" tIns="0" rIns="0" bIns="0" rtlCol="0" anchor="ctr"/>
          <a:lstStyle/>
          <a:p>
            <a:pPr indent="0" marL="0">
              <a:buNone/>
            </a:pPr>
            <a:r>
              <a:rPr lang="en-US" sz="1400" dirty="0">
                <a:solidFill>
                  <a:schemeClr val="tx1"/>
                </a:solidFill>
              </a:rPr>
              <a:t>899 missing values in Customers rely on imputation choices.</a:t>
            </a:r>
            <a:endParaRPr lang="en-US" sz="1400" dirty="0"/>
          </a:p>
        </p:txBody>
      </p:sp>
      <p:sp>
        <p:nvSpPr>
          <p:cNvPr id="14" name="Limitation row 3"/>
          <p:cNvSpPr/>
          <p:nvPr/>
        </p:nvSpPr>
        <p:spPr>
          <a:xfrm>
            <a:off x="457200" y="2551176"/>
            <a:ext cx="8229600" cy="594360"/>
          </a:xfrm>
          <a:prstGeom prst="roundRect">
            <a:avLst>
              <a:gd name="adj" fmla="val 18462"/>
            </a:avLst>
          </a:prstGeom>
          <a:solidFill>
            <a:schemeClr val="bg2"/>
          </a:solidFill>
          <a:ln w="12700">
            <a:solidFill>
              <a:schemeClr val="bg2"/>
            </a:solidFill>
            <a:prstDash val="solid"/>
          </a:ln>
        </p:spPr>
      </p:sp>
      <p:sp>
        <p:nvSpPr>
          <p:cNvPr id="15" name="Icon circle warn"/>
          <p:cNvSpPr/>
          <p:nvPr/>
        </p:nvSpPr>
        <p:spPr>
          <a:xfrm>
            <a:off x="594360" y="2642616"/>
            <a:ext cx="411480" cy="411480"/>
          </a:xfrm>
          <a:prstGeom prst="ellipse">
            <a:avLst/>
          </a:prstGeom>
          <a:solidFill>
            <a:schemeClr val="accent2"/>
          </a:solidFill>
          <a:ln w="12700">
            <a:solidFill>
              <a:schemeClr val="accent2"/>
            </a:solidFill>
            <a:prstDash val="solid"/>
          </a:ln>
        </p:spPr>
      </p:sp>
      <p:pic>
        <p:nvPicPr>
          <p:cNvPr id="16" name="Image 2" descr="warn icon">    </p:cNvPr>
          <p:cNvPicPr>
            <a:picLocks noChangeAspect="1"/>
          </p:cNvPicPr>
          <p:nvPr/>
        </p:nvPicPr>
        <p:blipFill>
          <a:blip r:embed="rId3"/>
          <a:stretch>
            <a:fillRect/>
          </a:stretch>
        </p:blipFill>
        <p:spPr>
          <a:xfrm>
            <a:off x="697230" y="2745486"/>
            <a:ext cx="205740" cy="205740"/>
          </a:xfrm>
          <a:prstGeom prst="rect">
            <a:avLst/>
          </a:prstGeom>
        </p:spPr>
      </p:pic>
      <p:sp>
        <p:nvSpPr>
          <p:cNvPr id="17" name="Text 11"/>
          <p:cNvSpPr txBox="1"/>
          <p:nvPr/>
        </p:nvSpPr>
        <p:spPr>
          <a:xfrm>
            <a:off x="1188720" y="2551176"/>
            <a:ext cx="2286000" cy="594360"/>
          </a:xfrm>
          <a:prstGeom prst="rect">
            <a:avLst/>
          </a:prstGeom>
          <a:noFill/>
          <a:ln/>
        </p:spPr>
        <p:txBody>
          <a:bodyPr wrap="square" lIns="0" tIns="0" rIns="0" bIns="0" rtlCol="0" anchor="ctr"/>
          <a:lstStyle/>
          <a:p>
            <a:pPr indent="0" marL="0">
              <a:buNone/>
            </a:pPr>
            <a:r>
              <a:rPr lang="en-US" sz="1600" b="1" dirty="0">
                <a:solidFill>
                  <a:schemeClr val="tx1"/>
                </a:solidFill>
              </a:rPr>
              <a:t>Class imbalance</a:t>
            </a:r>
            <a:endParaRPr lang="en-US" sz="1600" dirty="0"/>
          </a:p>
        </p:txBody>
      </p:sp>
      <p:sp>
        <p:nvSpPr>
          <p:cNvPr id="18" name="Text 12"/>
          <p:cNvSpPr txBox="1"/>
          <p:nvPr/>
        </p:nvSpPr>
        <p:spPr>
          <a:xfrm>
            <a:off x="3474720" y="2551176"/>
            <a:ext cx="5074920" cy="594360"/>
          </a:xfrm>
          <a:prstGeom prst="rect">
            <a:avLst/>
          </a:prstGeom>
          <a:noFill/>
          <a:ln/>
        </p:spPr>
        <p:txBody>
          <a:bodyPr wrap="square" lIns="0" tIns="0" rIns="0" bIns="0" rtlCol="0" anchor="ctr"/>
          <a:lstStyle/>
          <a:p>
            <a:pPr indent="0" marL="0">
              <a:buNone/>
            </a:pPr>
            <a:r>
              <a:rPr lang="en-US" sz="1400" dirty="0">
                <a:solidFill>
                  <a:schemeClr val="tx1"/>
                </a:solidFill>
              </a:rPr>
              <a:t>Negative reviews are only 6%, so they are the hardest to catch.</a:t>
            </a:r>
            <a:endParaRPr lang="en-US" sz="1400" dirty="0"/>
          </a:p>
        </p:txBody>
      </p:sp>
      <p:sp>
        <p:nvSpPr>
          <p:cNvPr id="19" name="Limitation row 4"/>
          <p:cNvSpPr/>
          <p:nvPr/>
        </p:nvSpPr>
        <p:spPr>
          <a:xfrm>
            <a:off x="457200" y="3255264"/>
            <a:ext cx="8229600" cy="594360"/>
          </a:xfrm>
          <a:prstGeom prst="roundRect">
            <a:avLst>
              <a:gd name="adj" fmla="val 18462"/>
            </a:avLst>
          </a:prstGeom>
          <a:solidFill>
            <a:schemeClr val="bg2"/>
          </a:solidFill>
          <a:ln w="12700">
            <a:solidFill>
              <a:schemeClr val="bg2"/>
            </a:solidFill>
            <a:prstDash val="solid"/>
          </a:ln>
        </p:spPr>
      </p:sp>
      <p:sp>
        <p:nvSpPr>
          <p:cNvPr id="20" name="Icon circle warn"/>
          <p:cNvSpPr/>
          <p:nvPr/>
        </p:nvSpPr>
        <p:spPr>
          <a:xfrm>
            <a:off x="594360" y="3346704"/>
            <a:ext cx="411480" cy="411480"/>
          </a:xfrm>
          <a:prstGeom prst="ellipse">
            <a:avLst/>
          </a:prstGeom>
          <a:solidFill>
            <a:schemeClr val="accent2"/>
          </a:solidFill>
          <a:ln w="12700">
            <a:solidFill>
              <a:schemeClr val="accent2"/>
            </a:solidFill>
            <a:prstDash val="solid"/>
          </a:ln>
        </p:spPr>
      </p:sp>
      <p:pic>
        <p:nvPicPr>
          <p:cNvPr id="21" name="Image 3" descr="warn icon">    </p:cNvPr>
          <p:cNvPicPr>
            <a:picLocks noChangeAspect="1"/>
          </p:cNvPicPr>
          <p:nvPr/>
        </p:nvPicPr>
        <p:blipFill>
          <a:blip r:embed="rId4"/>
          <a:stretch>
            <a:fillRect/>
          </a:stretch>
        </p:blipFill>
        <p:spPr>
          <a:xfrm>
            <a:off x="697230" y="3449574"/>
            <a:ext cx="205740" cy="205740"/>
          </a:xfrm>
          <a:prstGeom prst="rect">
            <a:avLst/>
          </a:prstGeom>
        </p:spPr>
      </p:pic>
      <p:sp>
        <p:nvSpPr>
          <p:cNvPr id="22" name="Text 15"/>
          <p:cNvSpPr txBox="1"/>
          <p:nvPr/>
        </p:nvSpPr>
        <p:spPr>
          <a:xfrm>
            <a:off x="1188720" y="3255264"/>
            <a:ext cx="2286000" cy="594360"/>
          </a:xfrm>
          <a:prstGeom prst="rect">
            <a:avLst/>
          </a:prstGeom>
          <a:noFill/>
          <a:ln/>
        </p:spPr>
        <p:txBody>
          <a:bodyPr wrap="square" lIns="0" tIns="0" rIns="0" bIns="0" rtlCol="0" anchor="ctr"/>
          <a:lstStyle/>
          <a:p>
            <a:pPr indent="0" marL="0">
              <a:buNone/>
            </a:pPr>
            <a:r>
              <a:rPr lang="en-US" sz="1600" b="1" dirty="0">
                <a:solidFill>
                  <a:schemeClr val="tx1"/>
                </a:solidFill>
              </a:rPr>
              <a:t>No delivery IDs</a:t>
            </a:r>
            <a:endParaRPr lang="en-US" sz="1600" dirty="0"/>
          </a:p>
        </p:txBody>
      </p:sp>
      <p:sp>
        <p:nvSpPr>
          <p:cNvPr id="23" name="Text 16"/>
          <p:cNvSpPr txBox="1"/>
          <p:nvPr/>
        </p:nvSpPr>
        <p:spPr>
          <a:xfrm>
            <a:off x="3474720" y="3255264"/>
            <a:ext cx="5074920" cy="594360"/>
          </a:xfrm>
          <a:prstGeom prst="rect">
            <a:avLst/>
          </a:prstGeom>
          <a:noFill/>
          <a:ln/>
        </p:spPr>
        <p:txBody>
          <a:bodyPr wrap="square" lIns="0" tIns="0" rIns="0" bIns="0" rtlCol="0" anchor="ctr"/>
          <a:lstStyle/>
          <a:p>
            <a:pPr indent="0" marL="0">
              <a:buNone/>
            </a:pPr>
            <a:r>
              <a:rPr lang="en-US" sz="1400" dirty="0">
                <a:solidFill>
                  <a:schemeClr val="tx1"/>
                </a:solidFill>
              </a:rPr>
              <a:t>Delivery rows can't be linked to orders or restaurants.</a:t>
            </a:r>
            <a:endParaRPr lang="en-US" sz="1400" dirty="0"/>
          </a:p>
        </p:txBody>
      </p:sp>
      <p:sp>
        <p:nvSpPr>
          <p:cNvPr id="24" name="Limitation row 5"/>
          <p:cNvSpPr/>
          <p:nvPr/>
        </p:nvSpPr>
        <p:spPr>
          <a:xfrm>
            <a:off x="457200" y="3959352"/>
            <a:ext cx="8229600" cy="594360"/>
          </a:xfrm>
          <a:prstGeom prst="roundRect">
            <a:avLst>
              <a:gd name="adj" fmla="val 18462"/>
            </a:avLst>
          </a:prstGeom>
          <a:solidFill>
            <a:schemeClr val="bg2"/>
          </a:solidFill>
          <a:ln w="12700">
            <a:solidFill>
              <a:schemeClr val="bg2"/>
            </a:solidFill>
            <a:prstDash val="solid"/>
          </a:ln>
        </p:spPr>
      </p:sp>
      <p:sp>
        <p:nvSpPr>
          <p:cNvPr id="25" name="Icon circle warn"/>
          <p:cNvSpPr/>
          <p:nvPr/>
        </p:nvSpPr>
        <p:spPr>
          <a:xfrm>
            <a:off x="594360" y="4050792"/>
            <a:ext cx="411480" cy="411480"/>
          </a:xfrm>
          <a:prstGeom prst="ellipse">
            <a:avLst/>
          </a:prstGeom>
          <a:solidFill>
            <a:schemeClr val="accent2"/>
          </a:solidFill>
          <a:ln w="12700">
            <a:solidFill>
              <a:schemeClr val="accent2"/>
            </a:solidFill>
            <a:prstDash val="solid"/>
          </a:ln>
        </p:spPr>
      </p:sp>
      <p:pic>
        <p:nvPicPr>
          <p:cNvPr id="26" name="Image 4" descr="warn icon">    </p:cNvPr>
          <p:cNvPicPr>
            <a:picLocks noChangeAspect="1"/>
          </p:cNvPicPr>
          <p:nvPr/>
        </p:nvPicPr>
        <p:blipFill>
          <a:blip r:embed="rId5"/>
          <a:stretch>
            <a:fillRect/>
          </a:stretch>
        </p:blipFill>
        <p:spPr>
          <a:xfrm>
            <a:off x="697230" y="4153662"/>
            <a:ext cx="205740" cy="205740"/>
          </a:xfrm>
          <a:prstGeom prst="rect">
            <a:avLst/>
          </a:prstGeom>
        </p:spPr>
      </p:pic>
      <p:sp>
        <p:nvSpPr>
          <p:cNvPr id="27" name="Text 19"/>
          <p:cNvSpPr txBox="1"/>
          <p:nvPr/>
        </p:nvSpPr>
        <p:spPr>
          <a:xfrm>
            <a:off x="1188720" y="3959352"/>
            <a:ext cx="2286000" cy="594360"/>
          </a:xfrm>
          <a:prstGeom prst="rect">
            <a:avLst/>
          </a:prstGeom>
          <a:noFill/>
          <a:ln/>
        </p:spPr>
        <p:txBody>
          <a:bodyPr wrap="square" lIns="0" tIns="0" rIns="0" bIns="0" rtlCol="0" anchor="ctr"/>
          <a:lstStyle/>
          <a:p>
            <a:pPr indent="0" marL="0">
              <a:buNone/>
            </a:pPr>
            <a:r>
              <a:rPr lang="en-US" sz="1600" b="1" dirty="0">
                <a:solidFill>
                  <a:schemeClr val="tx1"/>
                </a:solidFill>
              </a:rPr>
              <a:t>Subjective clusters</a:t>
            </a:r>
            <a:endParaRPr lang="en-US" sz="1600" dirty="0"/>
          </a:p>
        </p:txBody>
      </p:sp>
      <p:sp>
        <p:nvSpPr>
          <p:cNvPr id="28" name="Text 20"/>
          <p:cNvSpPr txBox="1"/>
          <p:nvPr/>
        </p:nvSpPr>
        <p:spPr>
          <a:xfrm>
            <a:off x="3474720" y="3959352"/>
            <a:ext cx="5074920" cy="594360"/>
          </a:xfrm>
          <a:prstGeom prst="rect">
            <a:avLst/>
          </a:prstGeom>
          <a:noFill/>
          <a:ln/>
        </p:spPr>
        <p:txBody>
          <a:bodyPr wrap="square" lIns="0" tIns="0" rIns="0" bIns="0" rtlCol="0" anchor="ctr"/>
          <a:lstStyle/>
          <a:p>
            <a:pPr indent="0" marL="0">
              <a:buNone/>
            </a:pPr>
            <a:r>
              <a:rPr lang="en-US" sz="1400" dirty="0">
                <a:solidFill>
                  <a:schemeClr val="tx1"/>
                </a:solidFill>
              </a:rPr>
              <a:t>Segment names need human judgement and may shift over time.</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Future Scope</a:t>
            </a:r>
            <a:endParaRPr lang="en-US" sz="3200" dirty="0"/>
          </a:p>
        </p:txBody>
      </p:sp>
      <p:sp>
        <p:nvSpPr>
          <p:cNvPr id="4" name="Future card Fix &amp; validate"/>
          <p:cNvSpPr/>
          <p:nvPr/>
        </p:nvSpPr>
        <p:spPr>
          <a:xfrm>
            <a:off x="457200" y="1188720"/>
            <a:ext cx="2560320" cy="2834640"/>
          </a:xfrm>
          <a:prstGeom prst="roundRect">
            <a:avLst>
              <a:gd name="adj" fmla="val 4286"/>
            </a:avLst>
          </a:prstGeom>
          <a:solidFill>
            <a:schemeClr val="bg2"/>
          </a:solidFill>
          <a:ln w="12700">
            <a:solidFill>
              <a:schemeClr val="bg2"/>
            </a:solidFill>
            <a:prstDash val="solid"/>
          </a:ln>
        </p:spPr>
      </p:sp>
      <p:sp>
        <p:nvSpPr>
          <p:cNvPr id="5" name="Icon circle wrench"/>
          <p:cNvSpPr/>
          <p:nvPr/>
        </p:nvSpPr>
        <p:spPr>
          <a:xfrm>
            <a:off x="685800" y="1371600"/>
            <a:ext cx="502920" cy="502920"/>
          </a:xfrm>
          <a:prstGeom prst="ellipse">
            <a:avLst/>
          </a:prstGeom>
          <a:solidFill>
            <a:schemeClr val="accent1"/>
          </a:solidFill>
          <a:ln w="12700">
            <a:solidFill>
              <a:schemeClr val="accent1"/>
            </a:solidFill>
            <a:prstDash val="solid"/>
          </a:ln>
        </p:spPr>
      </p:sp>
      <p:pic>
        <p:nvPicPr>
          <p:cNvPr id="6" name="Image 0" descr="wrench icon">    </p:cNvPr>
          <p:cNvPicPr>
            <a:picLocks noChangeAspect="1"/>
          </p:cNvPicPr>
          <p:nvPr/>
        </p:nvPicPr>
        <p:blipFill>
          <a:blip r:embed="rId1"/>
          <a:stretch>
            <a:fillRect/>
          </a:stretch>
        </p:blipFill>
        <p:spPr>
          <a:xfrm>
            <a:off x="811530" y="1497330"/>
            <a:ext cx="251460" cy="251460"/>
          </a:xfrm>
          <a:prstGeom prst="rect">
            <a:avLst/>
          </a:prstGeom>
        </p:spPr>
      </p:pic>
      <p:sp>
        <p:nvSpPr>
          <p:cNvPr id="7" name="Text 3"/>
          <p:cNvSpPr txBox="1"/>
          <p:nvPr/>
        </p:nvSpPr>
        <p:spPr>
          <a:xfrm>
            <a:off x="685800" y="2011680"/>
            <a:ext cx="2103120" cy="411480"/>
          </a:xfrm>
          <a:prstGeom prst="rect">
            <a:avLst/>
          </a:prstGeom>
          <a:noFill/>
          <a:ln/>
        </p:spPr>
        <p:txBody>
          <a:bodyPr wrap="square" lIns="0" tIns="0" rIns="0" bIns="0" rtlCol="0" anchor="t"/>
          <a:lstStyle/>
          <a:p>
            <a:pPr indent="0" marL="0">
              <a:buNone/>
            </a:pPr>
            <a:r>
              <a:rPr lang="en-US" sz="1800" b="1" dirty="0">
                <a:solidFill>
                  <a:schemeClr val="tx1"/>
                </a:solidFill>
              </a:rPr>
              <a:t>Fix &amp; validate</a:t>
            </a:r>
            <a:endParaRPr lang="en-US" sz="1800" dirty="0"/>
          </a:p>
        </p:txBody>
      </p:sp>
      <p:sp>
        <p:nvSpPr>
          <p:cNvPr id="8" name="Text 4"/>
          <p:cNvSpPr txBox="1"/>
          <p:nvPr/>
        </p:nvSpPr>
        <p:spPr>
          <a:xfrm>
            <a:off x="685800" y="2560320"/>
            <a:ext cx="2194560" cy="182880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Resolve delivery leakage</a:t>
            </a:r>
            <a:endParaRPr lang="en-US" sz="1400" dirty="0"/>
          </a:p>
          <a:p>
            <a:pPr marL="342900" indent="-342900">
              <a:spcAft>
                <a:spcPts val="1000"/>
              </a:spcAft>
              <a:buSzPct val="100000"/>
              <a:buChar char="•"/>
            </a:pPr>
            <a:r>
              <a:rPr lang="en-US" sz="1400" dirty="0">
                <a:solidFill>
                  <a:schemeClr val="tx1"/>
                </a:solidFill>
              </a:rPr>
              <a:t>Add IDs to delivery data</a:t>
            </a:r>
            <a:endParaRPr lang="en-US" sz="1400" dirty="0"/>
          </a:p>
          <a:p>
            <a:pPr marL="342900" indent="-342900">
              <a:spcAft>
                <a:spcPts val="1000"/>
              </a:spcAft>
              <a:buSzPct val="100000"/>
              <a:buChar char="•"/>
            </a:pPr>
            <a:r>
              <a:rPr lang="en-US" sz="1400" dirty="0">
                <a:solidFill>
                  <a:schemeClr val="tx1"/>
                </a:solidFill>
              </a:rPr>
              <a:t>Fill the forecast results</a:t>
            </a:r>
            <a:endParaRPr lang="en-US" sz="1400" dirty="0"/>
          </a:p>
        </p:txBody>
      </p:sp>
      <p:sp>
        <p:nvSpPr>
          <p:cNvPr id="9" name="Future card Improve models"/>
          <p:cNvSpPr/>
          <p:nvPr/>
        </p:nvSpPr>
        <p:spPr>
          <a:xfrm>
            <a:off x="3291840" y="1188720"/>
            <a:ext cx="2560320" cy="2834640"/>
          </a:xfrm>
          <a:prstGeom prst="roundRect">
            <a:avLst>
              <a:gd name="adj" fmla="val 4286"/>
            </a:avLst>
          </a:prstGeom>
          <a:solidFill>
            <a:schemeClr val="bg2"/>
          </a:solidFill>
          <a:ln w="12700">
            <a:solidFill>
              <a:schemeClr val="bg2"/>
            </a:solidFill>
            <a:prstDash val="solid"/>
          </a:ln>
        </p:spPr>
      </p:sp>
      <p:sp>
        <p:nvSpPr>
          <p:cNvPr id="10" name="Icon circle rocket"/>
          <p:cNvSpPr/>
          <p:nvPr/>
        </p:nvSpPr>
        <p:spPr>
          <a:xfrm>
            <a:off x="3520440" y="1371600"/>
            <a:ext cx="502920" cy="502920"/>
          </a:xfrm>
          <a:prstGeom prst="ellipse">
            <a:avLst/>
          </a:prstGeom>
          <a:solidFill>
            <a:schemeClr val="accent1"/>
          </a:solidFill>
          <a:ln w="12700">
            <a:solidFill>
              <a:schemeClr val="accent1"/>
            </a:solidFill>
            <a:prstDash val="solid"/>
          </a:ln>
        </p:spPr>
      </p:sp>
      <p:pic>
        <p:nvPicPr>
          <p:cNvPr id="11" name="Image 1" descr="rocket icon">    </p:cNvPr>
          <p:cNvPicPr>
            <a:picLocks noChangeAspect="1"/>
          </p:cNvPicPr>
          <p:nvPr/>
        </p:nvPicPr>
        <p:blipFill>
          <a:blip r:embed="rId2"/>
          <a:stretch>
            <a:fillRect/>
          </a:stretch>
        </p:blipFill>
        <p:spPr>
          <a:xfrm>
            <a:off x="3646170" y="1497330"/>
            <a:ext cx="251460" cy="251460"/>
          </a:xfrm>
          <a:prstGeom prst="rect">
            <a:avLst/>
          </a:prstGeom>
        </p:spPr>
      </p:pic>
      <p:sp>
        <p:nvSpPr>
          <p:cNvPr id="12" name="Text 7"/>
          <p:cNvSpPr txBox="1"/>
          <p:nvPr/>
        </p:nvSpPr>
        <p:spPr>
          <a:xfrm>
            <a:off x="3520440" y="2011680"/>
            <a:ext cx="2103120" cy="411480"/>
          </a:xfrm>
          <a:prstGeom prst="rect">
            <a:avLst/>
          </a:prstGeom>
          <a:noFill/>
          <a:ln/>
        </p:spPr>
        <p:txBody>
          <a:bodyPr wrap="square" lIns="0" tIns="0" rIns="0" bIns="0" rtlCol="0" anchor="t"/>
          <a:lstStyle/>
          <a:p>
            <a:pPr indent="0" marL="0">
              <a:buNone/>
            </a:pPr>
            <a:r>
              <a:rPr lang="en-US" sz="1800" b="1" dirty="0">
                <a:solidFill>
                  <a:schemeClr val="tx1"/>
                </a:solidFill>
              </a:rPr>
              <a:t>Improve models</a:t>
            </a:r>
            <a:endParaRPr lang="en-US" sz="1800" dirty="0"/>
          </a:p>
        </p:txBody>
      </p:sp>
      <p:sp>
        <p:nvSpPr>
          <p:cNvPr id="13" name="Text 8"/>
          <p:cNvSpPr txBox="1"/>
          <p:nvPr/>
        </p:nvSpPr>
        <p:spPr>
          <a:xfrm>
            <a:off x="3520440" y="2560320"/>
            <a:ext cx="2194560" cy="182880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Transformer sentiment (BERT)</a:t>
            </a:r>
            <a:endParaRPr lang="en-US" sz="1400" dirty="0"/>
          </a:p>
          <a:p>
            <a:pPr marL="342900" indent="-342900">
              <a:spcAft>
                <a:spcPts val="1000"/>
              </a:spcAft>
              <a:buSzPct val="100000"/>
              <a:buChar char="•"/>
            </a:pPr>
            <a:r>
              <a:rPr lang="en-US" sz="1400" dirty="0">
                <a:solidFill>
                  <a:schemeClr val="tx1"/>
                </a:solidFill>
              </a:rPr>
              <a:t>Tune hyperparameters</a:t>
            </a:r>
            <a:endParaRPr lang="en-US" sz="1400" dirty="0"/>
          </a:p>
          <a:p>
            <a:pPr marL="342900" indent="-342900">
              <a:spcAft>
                <a:spcPts val="1000"/>
              </a:spcAft>
              <a:buSzPct val="100000"/>
              <a:buChar char="•"/>
            </a:pPr>
            <a:r>
              <a:rPr lang="en-US" sz="1400" dirty="0">
                <a:solidFill>
                  <a:schemeClr val="tx1"/>
                </a:solidFill>
              </a:rPr>
              <a:t>Add weather and events</a:t>
            </a:r>
            <a:endParaRPr lang="en-US" sz="1400" dirty="0"/>
          </a:p>
        </p:txBody>
      </p:sp>
      <p:sp>
        <p:nvSpPr>
          <p:cNvPr id="14" name="Future card Operationalise"/>
          <p:cNvSpPr/>
          <p:nvPr/>
        </p:nvSpPr>
        <p:spPr>
          <a:xfrm>
            <a:off x="6126480" y="1188720"/>
            <a:ext cx="2560320" cy="2834640"/>
          </a:xfrm>
          <a:prstGeom prst="roundRect">
            <a:avLst>
              <a:gd name="adj" fmla="val 4286"/>
            </a:avLst>
          </a:prstGeom>
          <a:solidFill>
            <a:schemeClr val="bg2"/>
          </a:solidFill>
          <a:ln w="12700">
            <a:solidFill>
              <a:schemeClr val="bg2"/>
            </a:solidFill>
            <a:prstDash val="solid"/>
          </a:ln>
        </p:spPr>
      </p:sp>
      <p:sp>
        <p:nvSpPr>
          <p:cNvPr id="15" name="Icon circle chart"/>
          <p:cNvSpPr/>
          <p:nvPr/>
        </p:nvSpPr>
        <p:spPr>
          <a:xfrm>
            <a:off x="6355080" y="1371600"/>
            <a:ext cx="502920" cy="502920"/>
          </a:xfrm>
          <a:prstGeom prst="ellipse">
            <a:avLst/>
          </a:prstGeom>
          <a:solidFill>
            <a:schemeClr val="accent1"/>
          </a:solidFill>
          <a:ln w="12700">
            <a:solidFill>
              <a:schemeClr val="accent1"/>
            </a:solidFill>
            <a:prstDash val="solid"/>
          </a:ln>
        </p:spPr>
      </p:sp>
      <p:pic>
        <p:nvPicPr>
          <p:cNvPr id="16" name="Image 2" descr="chart icon">    </p:cNvPr>
          <p:cNvPicPr>
            <a:picLocks noChangeAspect="1"/>
          </p:cNvPicPr>
          <p:nvPr/>
        </p:nvPicPr>
        <p:blipFill>
          <a:blip r:embed="rId3"/>
          <a:stretch>
            <a:fillRect/>
          </a:stretch>
        </p:blipFill>
        <p:spPr>
          <a:xfrm>
            <a:off x="6480810" y="1497330"/>
            <a:ext cx="251460" cy="251460"/>
          </a:xfrm>
          <a:prstGeom prst="rect">
            <a:avLst/>
          </a:prstGeom>
        </p:spPr>
      </p:pic>
      <p:sp>
        <p:nvSpPr>
          <p:cNvPr id="17" name="Text 11"/>
          <p:cNvSpPr txBox="1"/>
          <p:nvPr/>
        </p:nvSpPr>
        <p:spPr>
          <a:xfrm>
            <a:off x="6355080" y="2011680"/>
            <a:ext cx="2103120" cy="411480"/>
          </a:xfrm>
          <a:prstGeom prst="rect">
            <a:avLst/>
          </a:prstGeom>
          <a:noFill/>
          <a:ln/>
        </p:spPr>
        <p:txBody>
          <a:bodyPr wrap="square" lIns="0" tIns="0" rIns="0" bIns="0" rtlCol="0" anchor="t"/>
          <a:lstStyle/>
          <a:p>
            <a:pPr indent="0" marL="0">
              <a:buNone/>
            </a:pPr>
            <a:r>
              <a:rPr lang="en-US" sz="1800" b="1" dirty="0">
                <a:solidFill>
                  <a:schemeClr val="tx1"/>
                </a:solidFill>
              </a:rPr>
              <a:t>Operationalise</a:t>
            </a:r>
            <a:endParaRPr lang="en-US" sz="1800" dirty="0"/>
          </a:p>
        </p:txBody>
      </p:sp>
      <p:sp>
        <p:nvSpPr>
          <p:cNvPr id="18" name="Text 12"/>
          <p:cNvSpPr txBox="1"/>
          <p:nvPr/>
        </p:nvSpPr>
        <p:spPr>
          <a:xfrm>
            <a:off x="6355080" y="2560320"/>
            <a:ext cx="2194560" cy="182880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Live dashboard</a:t>
            </a:r>
            <a:endParaRPr lang="en-US" sz="1400" dirty="0"/>
          </a:p>
          <a:p>
            <a:pPr marL="342900" indent="-342900">
              <a:spcAft>
                <a:spcPts val="1000"/>
              </a:spcAft>
              <a:buSzPct val="100000"/>
              <a:buChar char="•"/>
            </a:pPr>
            <a:r>
              <a:rPr lang="en-US" sz="1400" dirty="0">
                <a:solidFill>
                  <a:schemeClr val="tx1"/>
                </a:solidFill>
              </a:rPr>
              <a:t>Automated retraining</a:t>
            </a:r>
            <a:endParaRPr lang="en-US" sz="1400" dirty="0"/>
          </a:p>
          <a:p>
            <a:pPr marL="342900" indent="-342900">
              <a:spcAft>
                <a:spcPts val="1000"/>
              </a:spcAft>
              <a:buSzPct val="100000"/>
              <a:buChar char="•"/>
            </a:pPr>
            <a:r>
              <a:rPr lang="en-US" sz="1400" dirty="0">
                <a:solidFill>
                  <a:schemeClr val="tx1"/>
                </a:solidFill>
              </a:rPr>
              <a:t>A/B test the offers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371600"/>
          </a:xfrm>
          <a:prstGeom prst="rect">
            <a:avLst/>
          </a:prstGeom>
          <a:noFill/>
          <a:ln/>
        </p:spPr>
        <p:txBody>
          <a:bodyPr wrap="square" lIns="0" tIns="0" rIns="0" bIns="0" rtlCol="0" anchor="b"/>
          <a:lstStyle/>
          <a:p>
            <a:pPr algn="l" indent="0" marL="0">
              <a:buNone/>
            </a:pPr>
            <a:r>
              <a:rPr lang="en-US" sz="4000" b="1" dirty="0">
                <a:solidFill>
                  <a:schemeClr val="bg1"/>
                </a:solidFill>
              </a:rPr>
              <a:t>Thank you. Questions?</a:t>
            </a:r>
            <a:endParaRPr lang="en-US" sz="4000" dirty="0"/>
          </a:p>
        </p:txBody>
      </p:sp>
      <p:sp>
        <p:nvSpPr>
          <p:cNvPr id="3" name="Text 0"/>
          <p:cNvSpPr/>
          <p:nvPr>
            <p:ph idx="101" type="body" hasCustomPrompt="1"/>
          </p:nvPr>
        </p:nvSpPr>
        <p:spPr>
          <a:xfrm>
            <a:off x="548640" y="2926080"/>
            <a:ext cx="7315200" cy="914400"/>
          </a:xfrm>
          <a:prstGeom prst="rect">
            <a:avLst/>
          </a:prstGeom>
          <a:noFill/>
          <a:ln/>
        </p:spPr>
        <p:txBody>
          <a:bodyPr wrap="square" lIns="0" tIns="0" rIns="0" bIns="0" rtlCol="0" anchor="t"/>
          <a:lstStyle/>
          <a:p>
            <a:pPr algn="l" indent="0" marL="0">
              <a:buNone/>
            </a:pPr>
            <a:r>
              <a:rPr lang="en-US" sz="1800" dirty="0">
                <a:solidFill>
                  <a:schemeClr val="accent6"/>
                </a:solidFill>
              </a:rPr>
              <a:t>Understand customers · Hear their feedback · Predict delivery and demand</a:t>
            </a:r>
            <a:endParaRPr lang="en-US" sz="1800" dirty="0"/>
          </a:p>
        </p:txBody>
      </p:sp>
    </p:spTree>
  </p:cSld>
  <p:clrMapOvr>
    <a:masterClrMapping/>
  </p:clrMapOvr>
</p:sld>
</file>

<file path=ppt/theme/theme1.xml><?xml version="1.0" encoding="utf-8"?>
<a:theme xmlns:a="http://schemas.openxmlformats.org/drawingml/2006/main" name="UberEatsML">
  <a:themeElements>
    <a:clrScheme name="UberEatsML">
      <a:dk1>
        <a:srgbClr val="111111"/>
      </a:dk1>
      <a:lt1>
        <a:srgbClr val="FFFFFF"/>
      </a:lt1>
      <a:dk2>
        <a:srgbClr val="1B2B22"/>
      </a:dk2>
      <a:lt2>
        <a:srgbClr val="F1F5F2"/>
      </a:lt2>
      <a:accent1>
        <a:srgbClr val="06C167"/>
      </a:accent1>
      <a:accent2>
        <a:srgbClr val="F5A800"/>
      </a:accent2>
      <a:accent3>
        <a:srgbClr val="E4572E"/>
      </a:accent3>
      <a:accent4>
        <a:srgbClr val="6B7B72"/>
      </a:accent4>
      <a:accent5>
        <a:srgbClr val="0A7A45"/>
      </a:accent5>
      <a:accent6>
        <a:srgbClr val="CDF1DE"/>
      </a:accent6>
      <a:hlink>
        <a:srgbClr val="0A7A45"/>
      </a:hlink>
      <a:folHlink>
        <a:srgbClr val="6B7B72"/>
      </a:folHlink>
    </a:clrScheme>
    <a:fontScheme name="UberEatsM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Uber Eats ML Project – Final Presentation</dc:title>
  <dc:subject>PptxGenJS Presentation</dc:subject>
  <dc:creator>PptxGenJS</dc:creator>
  <cp:lastModifiedBy>PptxGenJS</cp:lastModifiedBy>
  <cp:revision>1</cp:revision>
  <dcterms:created xsi:type="dcterms:W3CDTF">2026-10-30T09:44:40Z</dcterms:created>
  <dcterms:modified xsi:type="dcterms:W3CDTF">2026-10-30T09:44:40Z</dcterms:modified>
</cp:coreProperties>
</file>